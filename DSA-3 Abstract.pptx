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Kaftus" charset="1" panose="00000000000000000000"/>
      <p:regular r:id="rId18"/>
    </p:embeddedFont>
    <p:embeddedFont>
      <p:font typeface="Inter Ultra-Bold" charset="1" panose="02000503000000020004"/>
      <p:regular r:id="rId19"/>
    </p:embeddedFont>
    <p:embeddedFont>
      <p:font typeface="Glacial Indifference" charset="1" panose="00000000000000000000"/>
      <p:regular r:id="rId20"/>
    </p:embeddedFont>
    <p:embeddedFont>
      <p:font typeface="Inter" charset="1" panose="02000503000000020004"/>
      <p:regular r:id="rId21"/>
    </p:embeddedFont>
    <p:embeddedFont>
      <p:font typeface="Inter Bold" charset="1" panose="02000503000000020004"/>
      <p:regular r:id="rId22"/>
    </p:embeddedFont>
    <p:embeddedFont>
      <p:font typeface="Canva Sans Bold" charset="1" panose="020B0803030501040103"/>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849470" y="-553116"/>
            <a:ext cx="2739909" cy="11393232"/>
            <a:chOff x="0" y="0"/>
            <a:chExt cx="563767" cy="2344286"/>
          </a:xfrm>
        </p:grpSpPr>
        <p:sp>
          <p:nvSpPr>
            <p:cNvPr name="Freeform 3" id="3"/>
            <p:cNvSpPr/>
            <p:nvPr/>
          </p:nvSpPr>
          <p:spPr>
            <a:xfrm flipH="false" flipV="false" rot="0">
              <a:off x="0" y="0"/>
              <a:ext cx="563767" cy="2344286"/>
            </a:xfrm>
            <a:custGeom>
              <a:avLst/>
              <a:gdLst/>
              <a:ahLst/>
              <a:cxnLst/>
              <a:rect r="r" b="b" t="t" l="l"/>
              <a:pathLst>
                <a:path h="2344286" w="563767">
                  <a:moveTo>
                    <a:pt x="0" y="0"/>
                  </a:moveTo>
                  <a:lnTo>
                    <a:pt x="563767" y="0"/>
                  </a:lnTo>
                  <a:lnTo>
                    <a:pt x="563767" y="2344286"/>
                  </a:lnTo>
                  <a:lnTo>
                    <a:pt x="0" y="2344286"/>
                  </a:lnTo>
                  <a:close/>
                </a:path>
              </a:pathLst>
            </a:custGeom>
            <a:solidFill>
              <a:srgbClr val="896245"/>
            </a:solidFill>
          </p:spPr>
        </p:sp>
        <p:sp>
          <p:nvSpPr>
            <p:cNvPr name="TextBox 4" id="4"/>
            <p:cNvSpPr txBox="true"/>
            <p:nvPr/>
          </p:nvSpPr>
          <p:spPr>
            <a:xfrm>
              <a:off x="0" y="-38100"/>
              <a:ext cx="563767" cy="2382386"/>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13936090" y="5828486"/>
            <a:ext cx="5050576" cy="4867241"/>
          </a:xfrm>
          <a:custGeom>
            <a:avLst/>
            <a:gdLst/>
            <a:ahLst/>
            <a:cxnLst/>
            <a:rect r="r" b="b" t="t" l="l"/>
            <a:pathLst>
              <a:path h="4867241" w="5050576">
                <a:moveTo>
                  <a:pt x="5050576" y="0"/>
                </a:moveTo>
                <a:lnTo>
                  <a:pt x="0" y="0"/>
                </a:lnTo>
                <a:lnTo>
                  <a:pt x="0" y="4867241"/>
                </a:lnTo>
                <a:lnTo>
                  <a:pt x="5050576" y="4867241"/>
                </a:lnTo>
                <a:lnTo>
                  <a:pt x="50505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4744553" y="-697504"/>
            <a:ext cx="3920450" cy="3452409"/>
          </a:xfrm>
          <a:custGeom>
            <a:avLst/>
            <a:gdLst/>
            <a:ahLst/>
            <a:cxnLst/>
            <a:rect r="r" b="b" t="t" l="l"/>
            <a:pathLst>
              <a:path h="3452409" w="3920450">
                <a:moveTo>
                  <a:pt x="3920450" y="0"/>
                </a:moveTo>
                <a:lnTo>
                  <a:pt x="0" y="0"/>
                </a:lnTo>
                <a:lnTo>
                  <a:pt x="0" y="3452408"/>
                </a:lnTo>
                <a:lnTo>
                  <a:pt x="3920450" y="3452408"/>
                </a:lnTo>
                <a:lnTo>
                  <a:pt x="39204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849470" y="1028700"/>
            <a:ext cx="1878170" cy="8229600"/>
            <a:chOff x="0" y="0"/>
            <a:chExt cx="386455" cy="1693333"/>
          </a:xfrm>
        </p:grpSpPr>
        <p:sp>
          <p:nvSpPr>
            <p:cNvPr name="Freeform 8" id="8"/>
            <p:cNvSpPr/>
            <p:nvPr/>
          </p:nvSpPr>
          <p:spPr>
            <a:xfrm flipH="false" flipV="false" rot="0">
              <a:off x="0" y="0"/>
              <a:ext cx="386455" cy="1693333"/>
            </a:xfrm>
            <a:custGeom>
              <a:avLst/>
              <a:gdLst/>
              <a:ahLst/>
              <a:cxnLst/>
              <a:rect r="r" b="b" t="t" l="l"/>
              <a:pathLst>
                <a:path h="1693333" w="386455">
                  <a:moveTo>
                    <a:pt x="0" y="0"/>
                  </a:moveTo>
                  <a:lnTo>
                    <a:pt x="386455" y="0"/>
                  </a:lnTo>
                  <a:lnTo>
                    <a:pt x="386455" y="1693333"/>
                  </a:lnTo>
                  <a:lnTo>
                    <a:pt x="0" y="1693333"/>
                  </a:lnTo>
                  <a:close/>
                </a:path>
              </a:pathLst>
            </a:custGeom>
            <a:solidFill>
              <a:srgbClr val="553B2C"/>
            </a:solidFill>
          </p:spPr>
        </p:sp>
        <p:sp>
          <p:nvSpPr>
            <p:cNvPr name="TextBox 9" id="9"/>
            <p:cNvSpPr txBox="true"/>
            <p:nvPr/>
          </p:nvSpPr>
          <p:spPr>
            <a:xfrm>
              <a:off x="0" y="-38100"/>
              <a:ext cx="386455" cy="1731433"/>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4404881" y="6590247"/>
            <a:ext cx="4260122" cy="4105480"/>
          </a:xfrm>
          <a:custGeom>
            <a:avLst/>
            <a:gdLst/>
            <a:ahLst/>
            <a:cxnLst/>
            <a:rect r="r" b="b" t="t" l="l"/>
            <a:pathLst>
              <a:path h="4105480" w="4260122">
                <a:moveTo>
                  <a:pt x="4260122" y="0"/>
                </a:moveTo>
                <a:lnTo>
                  <a:pt x="0" y="0"/>
                </a:lnTo>
                <a:lnTo>
                  <a:pt x="0" y="4105480"/>
                </a:lnTo>
                <a:lnTo>
                  <a:pt x="4260122" y="4105480"/>
                </a:lnTo>
                <a:lnTo>
                  <a:pt x="42601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07407" y="6255126"/>
            <a:ext cx="9873186" cy="1671860"/>
            <a:chOff x="0" y="0"/>
            <a:chExt cx="2031520" cy="344004"/>
          </a:xfrm>
        </p:grpSpPr>
        <p:sp>
          <p:nvSpPr>
            <p:cNvPr name="Freeform 12" id="12"/>
            <p:cNvSpPr/>
            <p:nvPr/>
          </p:nvSpPr>
          <p:spPr>
            <a:xfrm flipH="false" flipV="false" rot="0">
              <a:off x="0" y="0"/>
              <a:ext cx="2031520" cy="344004"/>
            </a:xfrm>
            <a:custGeom>
              <a:avLst/>
              <a:gdLst/>
              <a:ahLst/>
              <a:cxnLst/>
              <a:rect r="r" b="b" t="t" l="l"/>
              <a:pathLst>
                <a:path h="344004" w="2031520">
                  <a:moveTo>
                    <a:pt x="61261" y="0"/>
                  </a:moveTo>
                  <a:lnTo>
                    <a:pt x="1970259" y="0"/>
                  </a:lnTo>
                  <a:cubicBezTo>
                    <a:pt x="2004092" y="0"/>
                    <a:pt x="2031520" y="27427"/>
                    <a:pt x="2031520" y="61261"/>
                  </a:cubicBezTo>
                  <a:lnTo>
                    <a:pt x="2031520" y="282743"/>
                  </a:lnTo>
                  <a:cubicBezTo>
                    <a:pt x="2031520" y="298991"/>
                    <a:pt x="2025066" y="314573"/>
                    <a:pt x="2013577" y="326061"/>
                  </a:cubicBezTo>
                  <a:cubicBezTo>
                    <a:pt x="2002088" y="337550"/>
                    <a:pt x="1986506" y="344004"/>
                    <a:pt x="1970259" y="344004"/>
                  </a:cubicBezTo>
                  <a:lnTo>
                    <a:pt x="61261" y="344004"/>
                  </a:lnTo>
                  <a:cubicBezTo>
                    <a:pt x="27427" y="344004"/>
                    <a:pt x="0" y="316577"/>
                    <a:pt x="0" y="282743"/>
                  </a:cubicBezTo>
                  <a:lnTo>
                    <a:pt x="0" y="61261"/>
                  </a:lnTo>
                  <a:cubicBezTo>
                    <a:pt x="0" y="27427"/>
                    <a:pt x="27427" y="0"/>
                    <a:pt x="61261" y="0"/>
                  </a:cubicBezTo>
                  <a:close/>
                </a:path>
              </a:pathLst>
            </a:custGeom>
            <a:solidFill>
              <a:srgbClr val="896245"/>
            </a:solidFill>
          </p:spPr>
        </p:sp>
        <p:sp>
          <p:nvSpPr>
            <p:cNvPr name="TextBox 13" id="13"/>
            <p:cNvSpPr txBox="true"/>
            <p:nvPr/>
          </p:nvSpPr>
          <p:spPr>
            <a:xfrm>
              <a:off x="0" y="-38100"/>
              <a:ext cx="2031520" cy="382104"/>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890438" y="207889"/>
            <a:ext cx="3402684" cy="1768687"/>
          </a:xfrm>
          <a:custGeom>
            <a:avLst/>
            <a:gdLst/>
            <a:ahLst/>
            <a:cxnLst/>
            <a:rect r="r" b="b" t="t" l="l"/>
            <a:pathLst>
              <a:path h="1768687" w="3402684">
                <a:moveTo>
                  <a:pt x="0" y="0"/>
                </a:moveTo>
                <a:lnTo>
                  <a:pt x="3402684" y="0"/>
                </a:lnTo>
                <a:lnTo>
                  <a:pt x="3402684" y="1768687"/>
                </a:lnTo>
                <a:lnTo>
                  <a:pt x="0" y="1768687"/>
                </a:lnTo>
                <a:lnTo>
                  <a:pt x="0" y="0"/>
                </a:lnTo>
                <a:close/>
              </a:path>
            </a:pathLst>
          </a:custGeom>
          <a:blipFill>
            <a:blip r:embed="rId8"/>
            <a:stretch>
              <a:fillRect l="0" t="0" r="0" b="0"/>
            </a:stretch>
          </a:blipFill>
        </p:spPr>
      </p:sp>
      <p:sp>
        <p:nvSpPr>
          <p:cNvPr name="TextBox 15" id="15"/>
          <p:cNvSpPr txBox="true"/>
          <p:nvPr/>
        </p:nvSpPr>
        <p:spPr>
          <a:xfrm rot="0">
            <a:off x="2688493" y="1881326"/>
            <a:ext cx="12955259" cy="3439297"/>
          </a:xfrm>
          <a:prstGeom prst="rect">
            <a:avLst/>
          </a:prstGeom>
        </p:spPr>
        <p:txBody>
          <a:bodyPr anchor="t" rtlCol="false" tIns="0" lIns="0" bIns="0" rIns="0">
            <a:spAutoFit/>
          </a:bodyPr>
          <a:lstStyle/>
          <a:p>
            <a:pPr algn="ctr">
              <a:lnSpc>
                <a:spcPts val="8665"/>
              </a:lnSpc>
            </a:pPr>
            <a:r>
              <a:rPr lang="en-US" sz="7601">
                <a:solidFill>
                  <a:srgbClr val="1E1104"/>
                </a:solidFill>
                <a:latin typeface="Kaftus"/>
                <a:ea typeface="Kaftus"/>
                <a:cs typeface="Kaftus"/>
                <a:sym typeface="Kaftus"/>
              </a:rPr>
              <a:t>Newborn Genetic Dis</a:t>
            </a:r>
            <a:r>
              <a:rPr lang="en-US" sz="7601">
                <a:solidFill>
                  <a:srgbClr val="1E1104"/>
                </a:solidFill>
                <a:latin typeface="Kaftus"/>
                <a:ea typeface="Kaftus"/>
                <a:cs typeface="Kaftus"/>
                <a:sym typeface="Kaftus"/>
              </a:rPr>
              <a:t>or</a:t>
            </a:r>
            <a:r>
              <a:rPr lang="en-US" sz="7601">
                <a:solidFill>
                  <a:srgbClr val="1E1104"/>
                </a:solidFill>
                <a:latin typeface="Kaftus"/>
                <a:ea typeface="Kaftus"/>
                <a:cs typeface="Kaftus"/>
                <a:sym typeface="Kaftus"/>
              </a:rPr>
              <a:t>der Screening via DNA Motif Scanning</a:t>
            </a:r>
          </a:p>
        </p:txBody>
      </p:sp>
      <p:sp>
        <p:nvSpPr>
          <p:cNvPr name="TextBox 16" id="16"/>
          <p:cNvSpPr txBox="true"/>
          <p:nvPr/>
        </p:nvSpPr>
        <p:spPr>
          <a:xfrm rot="0">
            <a:off x="4119015" y="6741552"/>
            <a:ext cx="9961578" cy="699008"/>
          </a:xfrm>
          <a:prstGeom prst="rect">
            <a:avLst/>
          </a:prstGeom>
        </p:spPr>
        <p:txBody>
          <a:bodyPr anchor="t" rtlCol="false" tIns="0" lIns="0" bIns="0" rIns="0">
            <a:spAutoFit/>
          </a:bodyPr>
          <a:lstStyle/>
          <a:p>
            <a:pPr algn="ctr">
              <a:lnSpc>
                <a:spcPts val="5566"/>
              </a:lnSpc>
            </a:pPr>
            <a:r>
              <a:rPr lang="en-US" sz="4600" b="true">
                <a:solidFill>
                  <a:srgbClr val="000000"/>
                </a:solidFill>
                <a:latin typeface="Inter Ultra-Bold"/>
                <a:ea typeface="Inter Ultra-Bold"/>
                <a:cs typeface="Inter Ultra-Bold"/>
                <a:sym typeface="Inter Ultra-Bold"/>
              </a:rPr>
              <a:t>Data Structures and Algoritms - 3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sp>
        <p:nvSpPr>
          <p:cNvPr name="Freeform 2" id="2"/>
          <p:cNvSpPr/>
          <p:nvPr/>
        </p:nvSpPr>
        <p:spPr>
          <a:xfrm flipH="false" flipV="false" rot="0">
            <a:off x="-481057" y="-697504"/>
            <a:ext cx="3292626" cy="2899537"/>
          </a:xfrm>
          <a:custGeom>
            <a:avLst/>
            <a:gdLst/>
            <a:ahLst/>
            <a:cxnLst/>
            <a:rect r="r" b="b" t="t" l="l"/>
            <a:pathLst>
              <a:path h="2899537" w="3292626">
                <a:moveTo>
                  <a:pt x="0" y="0"/>
                </a:moveTo>
                <a:lnTo>
                  <a:pt x="3292626" y="0"/>
                </a:lnTo>
                <a:lnTo>
                  <a:pt x="3292626" y="2899537"/>
                </a:lnTo>
                <a:lnTo>
                  <a:pt x="0" y="28995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481057" y="8233433"/>
            <a:ext cx="3589629" cy="2657516"/>
          </a:xfrm>
          <a:custGeom>
            <a:avLst/>
            <a:gdLst/>
            <a:ahLst/>
            <a:cxnLst/>
            <a:rect r="r" b="b" t="t" l="l"/>
            <a:pathLst>
              <a:path h="2657516" w="3589629">
                <a:moveTo>
                  <a:pt x="0" y="2657516"/>
                </a:moveTo>
                <a:lnTo>
                  <a:pt x="3589630" y="2657516"/>
                </a:lnTo>
                <a:lnTo>
                  <a:pt x="3589630" y="0"/>
                </a:lnTo>
                <a:lnTo>
                  <a:pt x="0" y="0"/>
                </a:lnTo>
                <a:lnTo>
                  <a:pt x="0" y="265751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144000" y="-650727"/>
            <a:ext cx="9585940" cy="11588453"/>
            <a:chOff x="0" y="0"/>
            <a:chExt cx="1972416" cy="2384455"/>
          </a:xfrm>
        </p:grpSpPr>
        <p:sp>
          <p:nvSpPr>
            <p:cNvPr name="Freeform 5" id="5"/>
            <p:cNvSpPr/>
            <p:nvPr/>
          </p:nvSpPr>
          <p:spPr>
            <a:xfrm flipH="false" flipV="false" rot="0">
              <a:off x="0" y="0"/>
              <a:ext cx="1972416" cy="2384455"/>
            </a:xfrm>
            <a:custGeom>
              <a:avLst/>
              <a:gdLst/>
              <a:ahLst/>
              <a:cxnLst/>
              <a:rect r="r" b="b" t="t" l="l"/>
              <a:pathLst>
                <a:path h="2384455" w="1972416">
                  <a:moveTo>
                    <a:pt x="0" y="0"/>
                  </a:moveTo>
                  <a:lnTo>
                    <a:pt x="1972416" y="0"/>
                  </a:lnTo>
                  <a:lnTo>
                    <a:pt x="1972416" y="2384455"/>
                  </a:lnTo>
                  <a:lnTo>
                    <a:pt x="0" y="2384455"/>
                  </a:lnTo>
                  <a:close/>
                </a:path>
              </a:pathLst>
            </a:custGeom>
            <a:solidFill>
              <a:srgbClr val="FFF6E8"/>
            </a:solidFill>
          </p:spPr>
        </p:sp>
        <p:sp>
          <p:nvSpPr>
            <p:cNvPr name="TextBox 6" id="6"/>
            <p:cNvSpPr txBox="true"/>
            <p:nvPr/>
          </p:nvSpPr>
          <p:spPr>
            <a:xfrm>
              <a:off x="0" y="-38100"/>
              <a:ext cx="1972416" cy="242255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877380" y="1509286"/>
            <a:ext cx="8427052" cy="7268427"/>
            <a:chOff x="0" y="0"/>
            <a:chExt cx="1305571" cy="1126070"/>
          </a:xfrm>
        </p:grpSpPr>
        <p:sp>
          <p:nvSpPr>
            <p:cNvPr name="Freeform 8" id="8"/>
            <p:cNvSpPr/>
            <p:nvPr/>
          </p:nvSpPr>
          <p:spPr>
            <a:xfrm flipH="false" flipV="false" rot="0">
              <a:off x="0" y="0"/>
              <a:ext cx="1305571" cy="1126070"/>
            </a:xfrm>
            <a:custGeom>
              <a:avLst/>
              <a:gdLst/>
              <a:ahLst/>
              <a:cxnLst/>
              <a:rect r="r" b="b" t="t" l="l"/>
              <a:pathLst>
                <a:path h="1126070" w="1305571">
                  <a:moveTo>
                    <a:pt x="0" y="0"/>
                  </a:moveTo>
                  <a:lnTo>
                    <a:pt x="1305571" y="0"/>
                  </a:lnTo>
                  <a:lnTo>
                    <a:pt x="1305571" y="1126070"/>
                  </a:lnTo>
                  <a:lnTo>
                    <a:pt x="0" y="1126070"/>
                  </a:lnTo>
                  <a:close/>
                </a:path>
              </a:pathLst>
            </a:custGeom>
            <a:blipFill>
              <a:blip r:embed="rId6"/>
              <a:stretch>
                <a:fillRect l="-14366" t="0" r="-14366" b="0"/>
              </a:stretch>
            </a:blipFill>
          </p:spPr>
        </p:sp>
      </p:grpSp>
      <p:sp>
        <p:nvSpPr>
          <p:cNvPr name="TextBox 9" id="9"/>
          <p:cNvSpPr txBox="true"/>
          <p:nvPr/>
        </p:nvSpPr>
        <p:spPr>
          <a:xfrm rot="0">
            <a:off x="1313758" y="2192508"/>
            <a:ext cx="7472112" cy="991870"/>
          </a:xfrm>
          <a:prstGeom prst="rect">
            <a:avLst/>
          </a:prstGeom>
        </p:spPr>
        <p:txBody>
          <a:bodyPr anchor="t" rtlCol="false" tIns="0" lIns="0" bIns="0" rIns="0">
            <a:spAutoFit/>
          </a:bodyPr>
          <a:lstStyle/>
          <a:p>
            <a:pPr algn="l">
              <a:lnSpc>
                <a:spcPts val="7865"/>
              </a:lnSpc>
            </a:pPr>
            <a:r>
              <a:rPr lang="en-US" sz="6500" b="true">
                <a:solidFill>
                  <a:srgbClr val="000000"/>
                </a:solidFill>
                <a:latin typeface="Inter Ultra-Bold"/>
                <a:ea typeface="Inter Ultra-Bold"/>
                <a:cs typeface="Inter Ultra-Bold"/>
                <a:sym typeface="Inter Ultra-Bold"/>
              </a:rPr>
              <a:t>Team Members</a:t>
            </a:r>
          </a:p>
        </p:txBody>
      </p:sp>
      <p:sp>
        <p:nvSpPr>
          <p:cNvPr name="TextBox 10" id="10"/>
          <p:cNvSpPr txBox="true"/>
          <p:nvPr/>
        </p:nvSpPr>
        <p:spPr>
          <a:xfrm rot="0">
            <a:off x="1313758" y="4496435"/>
            <a:ext cx="7215247" cy="1455420"/>
          </a:xfrm>
          <a:prstGeom prst="rect">
            <a:avLst/>
          </a:prstGeom>
        </p:spPr>
        <p:txBody>
          <a:bodyPr anchor="t" rtlCol="false" tIns="0" lIns="0" bIns="0" rIns="0">
            <a:spAutoFit/>
          </a:bodyPr>
          <a:lstStyle/>
          <a:p>
            <a:pPr algn="l" marL="647700" indent="-323850" lvl="1">
              <a:lnSpc>
                <a:spcPts val="3840"/>
              </a:lnSpc>
              <a:buFont typeface="Arial"/>
              <a:buChar char="•"/>
            </a:pPr>
            <a:r>
              <a:rPr lang="en-US" sz="3000">
                <a:solidFill>
                  <a:srgbClr val="000000"/>
                </a:solidFill>
                <a:latin typeface="Glacial Indifference"/>
                <a:ea typeface="Glacial Indifference"/>
                <a:cs typeface="Glacial Indifference"/>
                <a:sym typeface="Glacial Indifference"/>
              </a:rPr>
              <a:t>2520030039 - T.S.S.S.Ananya</a:t>
            </a:r>
          </a:p>
          <a:p>
            <a:pPr algn="l" marL="647700" indent="-323850" lvl="1">
              <a:lnSpc>
                <a:spcPts val="3840"/>
              </a:lnSpc>
              <a:buFont typeface="Arial"/>
              <a:buChar char="•"/>
            </a:pPr>
            <a:r>
              <a:rPr lang="en-US" sz="3000">
                <a:solidFill>
                  <a:srgbClr val="000000"/>
                </a:solidFill>
                <a:latin typeface="Glacial Indifference"/>
                <a:ea typeface="Glacial Indifference"/>
                <a:cs typeface="Glacial Indifference"/>
                <a:sym typeface="Glacial Indifference"/>
              </a:rPr>
              <a:t>2520030095 - Thipireddy Hansini</a:t>
            </a:r>
          </a:p>
          <a:p>
            <a:pPr algn="l" marL="647700" indent="-323850" lvl="1">
              <a:lnSpc>
                <a:spcPts val="3840"/>
              </a:lnSpc>
              <a:buFont typeface="Arial"/>
              <a:buChar char="•"/>
            </a:pPr>
            <a:r>
              <a:rPr lang="en-US" sz="3000">
                <a:solidFill>
                  <a:srgbClr val="000000"/>
                </a:solidFill>
                <a:latin typeface="Glacial Indifference"/>
                <a:ea typeface="Glacial Indifference"/>
                <a:cs typeface="Glacial Indifference"/>
                <a:sym typeface="Glacial Indifference"/>
              </a:rPr>
              <a:t>2520030155 - Fathima Qhibtiya Khader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548346" y="6723353"/>
            <a:ext cx="19384692" cy="4214373"/>
            <a:chOff x="0" y="0"/>
            <a:chExt cx="3988620" cy="867155"/>
          </a:xfrm>
        </p:grpSpPr>
        <p:sp>
          <p:nvSpPr>
            <p:cNvPr name="Freeform 3" id="3"/>
            <p:cNvSpPr/>
            <p:nvPr/>
          </p:nvSpPr>
          <p:spPr>
            <a:xfrm flipH="false" flipV="false" rot="0">
              <a:off x="0" y="0"/>
              <a:ext cx="3988620" cy="867155"/>
            </a:xfrm>
            <a:custGeom>
              <a:avLst/>
              <a:gdLst/>
              <a:ahLst/>
              <a:cxnLst/>
              <a:rect r="r" b="b" t="t" l="l"/>
              <a:pathLst>
                <a:path h="867155" w="3988620">
                  <a:moveTo>
                    <a:pt x="0" y="0"/>
                  </a:moveTo>
                  <a:lnTo>
                    <a:pt x="3988620" y="0"/>
                  </a:lnTo>
                  <a:lnTo>
                    <a:pt x="3988620" y="867155"/>
                  </a:lnTo>
                  <a:lnTo>
                    <a:pt x="0" y="867155"/>
                  </a:lnTo>
                  <a:close/>
                </a:path>
              </a:pathLst>
            </a:custGeom>
            <a:solidFill>
              <a:srgbClr val="FFF6E8"/>
            </a:solidFill>
          </p:spPr>
        </p:sp>
        <p:sp>
          <p:nvSpPr>
            <p:cNvPr name="TextBox 4" id="4"/>
            <p:cNvSpPr txBox="true"/>
            <p:nvPr/>
          </p:nvSpPr>
          <p:spPr>
            <a:xfrm>
              <a:off x="0" y="-38100"/>
              <a:ext cx="3988620" cy="90525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true" rot="0">
            <a:off x="15575848" y="-504476"/>
            <a:ext cx="3366904" cy="4114800"/>
          </a:xfrm>
          <a:custGeom>
            <a:avLst/>
            <a:gdLst/>
            <a:ahLst/>
            <a:cxnLst/>
            <a:rect r="r" b="b" t="t" l="l"/>
            <a:pathLst>
              <a:path h="4114800" w="3366904">
                <a:moveTo>
                  <a:pt x="3366904" y="4114800"/>
                </a:moveTo>
                <a:lnTo>
                  <a:pt x="0" y="4114800"/>
                </a:lnTo>
                <a:lnTo>
                  <a:pt x="0" y="0"/>
                </a:lnTo>
                <a:lnTo>
                  <a:pt x="3366904" y="0"/>
                </a:lnTo>
                <a:lnTo>
                  <a:pt x="3366904"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81057" y="-697504"/>
            <a:ext cx="3292626" cy="2899537"/>
          </a:xfrm>
          <a:custGeom>
            <a:avLst/>
            <a:gdLst/>
            <a:ahLst/>
            <a:cxnLst/>
            <a:rect r="r" b="b" t="t" l="l"/>
            <a:pathLst>
              <a:path h="2899537" w="3292626">
                <a:moveTo>
                  <a:pt x="0" y="0"/>
                </a:moveTo>
                <a:lnTo>
                  <a:pt x="3292626" y="0"/>
                </a:lnTo>
                <a:lnTo>
                  <a:pt x="3292626" y="2899537"/>
                </a:lnTo>
                <a:lnTo>
                  <a:pt x="0" y="28995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222406" y="2019746"/>
            <a:ext cx="3591743" cy="6953058"/>
            <a:chOff x="0" y="0"/>
            <a:chExt cx="556455" cy="1077211"/>
          </a:xfrm>
        </p:grpSpPr>
        <p:sp>
          <p:nvSpPr>
            <p:cNvPr name="Freeform 8" id="8"/>
            <p:cNvSpPr/>
            <p:nvPr/>
          </p:nvSpPr>
          <p:spPr>
            <a:xfrm flipH="false" flipV="false" rot="0">
              <a:off x="0" y="0"/>
              <a:ext cx="556455" cy="1077211"/>
            </a:xfrm>
            <a:custGeom>
              <a:avLst/>
              <a:gdLst/>
              <a:ahLst/>
              <a:cxnLst/>
              <a:rect r="r" b="b" t="t" l="l"/>
              <a:pathLst>
                <a:path h="1077211" w="556455">
                  <a:moveTo>
                    <a:pt x="56042" y="0"/>
                  </a:moveTo>
                  <a:lnTo>
                    <a:pt x="500413" y="0"/>
                  </a:lnTo>
                  <a:cubicBezTo>
                    <a:pt x="531364" y="0"/>
                    <a:pt x="556455" y="25091"/>
                    <a:pt x="556455" y="56042"/>
                  </a:cubicBezTo>
                  <a:lnTo>
                    <a:pt x="556455" y="1021168"/>
                  </a:lnTo>
                  <a:cubicBezTo>
                    <a:pt x="556455" y="1052120"/>
                    <a:pt x="531364" y="1077211"/>
                    <a:pt x="500413" y="1077211"/>
                  </a:cubicBezTo>
                  <a:lnTo>
                    <a:pt x="56042" y="1077211"/>
                  </a:lnTo>
                  <a:cubicBezTo>
                    <a:pt x="25091" y="1077211"/>
                    <a:pt x="0" y="1052120"/>
                    <a:pt x="0" y="1021168"/>
                  </a:cubicBezTo>
                  <a:lnTo>
                    <a:pt x="0" y="56042"/>
                  </a:lnTo>
                  <a:cubicBezTo>
                    <a:pt x="0" y="25091"/>
                    <a:pt x="25091" y="0"/>
                    <a:pt x="56042" y="0"/>
                  </a:cubicBezTo>
                  <a:close/>
                </a:path>
              </a:pathLst>
            </a:custGeom>
            <a:blipFill>
              <a:blip r:embed="rId6"/>
              <a:stretch>
                <a:fillRect l="-95552" t="0" r="-95552" b="0"/>
              </a:stretch>
            </a:blipFill>
          </p:spPr>
        </p:sp>
      </p:grpSp>
      <p:grpSp>
        <p:nvGrpSpPr>
          <p:cNvPr name="Group 9" id="9"/>
          <p:cNvGrpSpPr/>
          <p:nvPr/>
        </p:nvGrpSpPr>
        <p:grpSpPr>
          <a:xfrm rot="0">
            <a:off x="5109005" y="2019746"/>
            <a:ext cx="3591743" cy="6953058"/>
            <a:chOff x="0" y="0"/>
            <a:chExt cx="556455" cy="1077211"/>
          </a:xfrm>
        </p:grpSpPr>
        <p:sp>
          <p:nvSpPr>
            <p:cNvPr name="Freeform 10" id="10"/>
            <p:cNvSpPr/>
            <p:nvPr/>
          </p:nvSpPr>
          <p:spPr>
            <a:xfrm flipH="false" flipV="false" rot="4473283">
              <a:off x="-302136" y="139873"/>
              <a:ext cx="1160727" cy="797465"/>
            </a:xfrm>
            <a:custGeom>
              <a:avLst/>
              <a:gdLst/>
              <a:ahLst/>
              <a:cxnLst/>
              <a:rect r="r" b="b" t="t" l="l"/>
              <a:pathLst>
                <a:path h="797465" w="1160727">
                  <a:moveTo>
                    <a:pt x="2038" y="469453"/>
                  </a:moveTo>
                  <a:lnTo>
                    <a:pt x="120382" y="41131"/>
                  </a:lnTo>
                  <a:cubicBezTo>
                    <a:pt x="128625" y="11298"/>
                    <a:pt x="159492" y="-6205"/>
                    <a:pt x="189325" y="2038"/>
                  </a:cubicBezTo>
                  <a:lnTo>
                    <a:pt x="1119596" y="259068"/>
                  </a:lnTo>
                  <a:cubicBezTo>
                    <a:pt x="1149429" y="267311"/>
                    <a:pt x="1166932" y="298178"/>
                    <a:pt x="1158689" y="328012"/>
                  </a:cubicBezTo>
                  <a:lnTo>
                    <a:pt x="1040345" y="756333"/>
                  </a:lnTo>
                  <a:cubicBezTo>
                    <a:pt x="1032102" y="786167"/>
                    <a:pt x="1001235" y="803670"/>
                    <a:pt x="971402" y="795427"/>
                  </a:cubicBezTo>
                  <a:lnTo>
                    <a:pt x="41131" y="538397"/>
                  </a:lnTo>
                  <a:cubicBezTo>
                    <a:pt x="11298" y="530154"/>
                    <a:pt x="-6205" y="499287"/>
                    <a:pt x="2038" y="469453"/>
                  </a:cubicBezTo>
                  <a:close/>
                </a:path>
              </a:pathLst>
            </a:custGeom>
            <a:blipFill>
              <a:blip r:embed="rId7"/>
              <a:stretch>
                <a:fillRect l="-32128" t="-17539" r="-32128" b="-17539"/>
              </a:stretch>
            </a:blipFill>
          </p:spPr>
        </p:sp>
      </p:grpSp>
      <p:sp>
        <p:nvSpPr>
          <p:cNvPr name="TextBox 11" id="11"/>
          <p:cNvSpPr txBox="true"/>
          <p:nvPr/>
        </p:nvSpPr>
        <p:spPr>
          <a:xfrm rot="0">
            <a:off x="9144000" y="3352673"/>
            <a:ext cx="8277136" cy="5649976"/>
          </a:xfrm>
          <a:prstGeom prst="rect">
            <a:avLst/>
          </a:prstGeom>
        </p:spPr>
        <p:txBody>
          <a:bodyPr anchor="t" rtlCol="false" tIns="0" lIns="0" bIns="0" rIns="0">
            <a:spAutoFit/>
          </a:bodyPr>
          <a:lstStyle/>
          <a:p>
            <a:pPr algn="just">
              <a:lnSpc>
                <a:spcPts val="3200"/>
              </a:lnSpc>
            </a:pPr>
            <a:r>
              <a:rPr lang="en-US" sz="2500">
                <a:solidFill>
                  <a:srgbClr val="000000"/>
                </a:solidFill>
                <a:latin typeface="Glacial Indifference"/>
                <a:ea typeface="Glacial Indifference"/>
                <a:cs typeface="Glacial Indifference"/>
                <a:sym typeface="Glacial Indifference"/>
              </a:rPr>
              <a:t>Genetic screening for newborns and carriers is expan</a:t>
            </a:r>
            <a:r>
              <a:rPr lang="en-US" sz="2500">
                <a:solidFill>
                  <a:srgbClr val="000000"/>
                </a:solidFill>
                <a:latin typeface="Glacial Indifference"/>
                <a:ea typeface="Glacial Indifference"/>
                <a:cs typeface="Glacial Indifference"/>
                <a:sym typeface="Glacial Indifference"/>
              </a:rPr>
              <a:t>ding rapidly worldwide to detect inherited disorders before symptoms appear, enabling early, life-saving medical intervention. In India, initiatives like the National Sickle Cell Anaemia Elimination Mission target major genetic burdens, including Sickle Cell Disease and Beta-thalassemia, which are caused by specific, well-documented mutations in the HBB gene. As these screening programs grow, they are transitioning from checking a single condition to checking dozens of disorders simultaneously. Because DNA is a string composed of a four-letter alphabet (A, C, G, T), identifying these genetic markers within a patient sample is fundamentally a multi-pattern string matching problem.</a:t>
            </a:r>
          </a:p>
          <a:p>
            <a:pPr algn="just">
              <a:lnSpc>
                <a:spcPts val="3583"/>
              </a:lnSpc>
            </a:pPr>
          </a:p>
        </p:txBody>
      </p:sp>
      <p:sp>
        <p:nvSpPr>
          <p:cNvPr name="TextBox 12" id="12"/>
          <p:cNvSpPr txBox="true"/>
          <p:nvPr/>
        </p:nvSpPr>
        <p:spPr>
          <a:xfrm rot="0">
            <a:off x="9144000" y="1819721"/>
            <a:ext cx="8115300" cy="991870"/>
          </a:xfrm>
          <a:prstGeom prst="rect">
            <a:avLst/>
          </a:prstGeom>
        </p:spPr>
        <p:txBody>
          <a:bodyPr anchor="t" rtlCol="false" tIns="0" lIns="0" bIns="0" rIns="0">
            <a:spAutoFit/>
          </a:bodyPr>
          <a:lstStyle/>
          <a:p>
            <a:pPr algn="l">
              <a:lnSpc>
                <a:spcPts val="7865"/>
              </a:lnSpc>
            </a:pPr>
            <a:r>
              <a:rPr lang="en-US" sz="6500" b="true">
                <a:solidFill>
                  <a:srgbClr val="000000"/>
                </a:solidFill>
                <a:latin typeface="Inter Ultra-Bold"/>
                <a:ea typeface="Inter Ultra-Bold"/>
                <a:cs typeface="Inter Ultra-Bold"/>
                <a:sym typeface="Inter Ultra-Bold"/>
              </a:rPr>
              <a:t>Abstract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6528032"/>
            <a:ext cx="14549383" cy="2730268"/>
            <a:chOff x="0" y="0"/>
            <a:chExt cx="2993700" cy="561784"/>
          </a:xfrm>
        </p:grpSpPr>
        <p:sp>
          <p:nvSpPr>
            <p:cNvPr name="Freeform 3" id="3"/>
            <p:cNvSpPr/>
            <p:nvPr/>
          </p:nvSpPr>
          <p:spPr>
            <a:xfrm flipH="false" flipV="false" rot="0">
              <a:off x="0" y="0"/>
              <a:ext cx="2993700" cy="561784"/>
            </a:xfrm>
            <a:custGeom>
              <a:avLst/>
              <a:gdLst/>
              <a:ahLst/>
              <a:cxnLst/>
              <a:rect r="r" b="b" t="t" l="l"/>
              <a:pathLst>
                <a:path h="561784" w="2993700">
                  <a:moveTo>
                    <a:pt x="0" y="0"/>
                  </a:moveTo>
                  <a:lnTo>
                    <a:pt x="2993700" y="0"/>
                  </a:lnTo>
                  <a:lnTo>
                    <a:pt x="2993700" y="561784"/>
                  </a:lnTo>
                  <a:lnTo>
                    <a:pt x="0" y="561784"/>
                  </a:lnTo>
                  <a:close/>
                </a:path>
              </a:pathLst>
            </a:custGeom>
            <a:solidFill>
              <a:srgbClr val="FFF6E8"/>
            </a:solidFill>
          </p:spPr>
        </p:sp>
        <p:sp>
          <p:nvSpPr>
            <p:cNvPr name="TextBox 4" id="4"/>
            <p:cNvSpPr txBox="true"/>
            <p:nvPr/>
          </p:nvSpPr>
          <p:spPr>
            <a:xfrm>
              <a:off x="0" y="-38100"/>
              <a:ext cx="2993700" cy="59988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869309" y="3472850"/>
            <a:ext cx="14549383" cy="2730268"/>
            <a:chOff x="0" y="0"/>
            <a:chExt cx="2993700" cy="561784"/>
          </a:xfrm>
        </p:grpSpPr>
        <p:sp>
          <p:nvSpPr>
            <p:cNvPr name="Freeform 6" id="6"/>
            <p:cNvSpPr/>
            <p:nvPr/>
          </p:nvSpPr>
          <p:spPr>
            <a:xfrm flipH="false" flipV="false" rot="0">
              <a:off x="0" y="0"/>
              <a:ext cx="2993700" cy="561784"/>
            </a:xfrm>
            <a:custGeom>
              <a:avLst/>
              <a:gdLst/>
              <a:ahLst/>
              <a:cxnLst/>
              <a:rect r="r" b="b" t="t" l="l"/>
              <a:pathLst>
                <a:path h="561784" w="2993700">
                  <a:moveTo>
                    <a:pt x="0" y="0"/>
                  </a:moveTo>
                  <a:lnTo>
                    <a:pt x="2993700" y="0"/>
                  </a:lnTo>
                  <a:lnTo>
                    <a:pt x="2993700" y="561784"/>
                  </a:lnTo>
                  <a:lnTo>
                    <a:pt x="0" y="561784"/>
                  </a:lnTo>
                  <a:close/>
                </a:path>
              </a:pathLst>
            </a:custGeom>
            <a:solidFill>
              <a:srgbClr val="FFF6E8"/>
            </a:solidFill>
          </p:spPr>
        </p:sp>
        <p:sp>
          <p:nvSpPr>
            <p:cNvPr name="TextBox 7" id="7"/>
            <p:cNvSpPr txBox="true"/>
            <p:nvPr/>
          </p:nvSpPr>
          <p:spPr>
            <a:xfrm>
              <a:off x="0" y="-38100"/>
              <a:ext cx="2993700" cy="59988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false" rot="0">
            <a:off x="15348148" y="7518853"/>
            <a:ext cx="3594603" cy="3464120"/>
          </a:xfrm>
          <a:custGeom>
            <a:avLst/>
            <a:gdLst/>
            <a:ahLst/>
            <a:cxnLst/>
            <a:rect r="r" b="b" t="t" l="l"/>
            <a:pathLst>
              <a:path h="3464120" w="3594603">
                <a:moveTo>
                  <a:pt x="3594604" y="0"/>
                </a:moveTo>
                <a:lnTo>
                  <a:pt x="0" y="0"/>
                </a:lnTo>
                <a:lnTo>
                  <a:pt x="0" y="3464120"/>
                </a:lnTo>
                <a:lnTo>
                  <a:pt x="3594604" y="3464120"/>
                </a:lnTo>
                <a:lnTo>
                  <a:pt x="359460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54752" y="6868173"/>
            <a:ext cx="3366904" cy="4114800"/>
          </a:xfrm>
          <a:custGeom>
            <a:avLst/>
            <a:gdLst/>
            <a:ahLst/>
            <a:cxnLst/>
            <a:rect r="r" b="b" t="t" l="l"/>
            <a:pathLst>
              <a:path h="4114800" w="3366904">
                <a:moveTo>
                  <a:pt x="0" y="0"/>
                </a:moveTo>
                <a:lnTo>
                  <a:pt x="3366904" y="0"/>
                </a:lnTo>
                <a:lnTo>
                  <a:pt x="336690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Problem Statement</a:t>
            </a:r>
          </a:p>
        </p:txBody>
      </p:sp>
      <p:sp>
        <p:nvSpPr>
          <p:cNvPr name="TextBox 11" id="11"/>
          <p:cNvSpPr txBox="true"/>
          <p:nvPr/>
        </p:nvSpPr>
        <p:spPr>
          <a:xfrm rot="0">
            <a:off x="2568167" y="3890692"/>
            <a:ext cx="13151666" cy="1866011"/>
          </a:xfrm>
          <a:prstGeom prst="rect">
            <a:avLst/>
          </a:prstGeom>
        </p:spPr>
        <p:txBody>
          <a:bodyPr anchor="t" rtlCol="false" tIns="0" lIns="0" bIns="0" rIns="0">
            <a:spAutoFit/>
          </a:bodyPr>
          <a:lstStyle/>
          <a:p>
            <a:pPr algn="just">
              <a:lnSpc>
                <a:spcPts val="3712"/>
              </a:lnSpc>
            </a:pPr>
            <a:r>
              <a:rPr lang="en-US" sz="2900">
                <a:solidFill>
                  <a:srgbClr val="000000"/>
                </a:solidFill>
                <a:latin typeface="Glacial Indifference"/>
                <a:ea typeface="Glacial Indifference"/>
                <a:cs typeface="Glacial Indifference"/>
                <a:sym typeface="Glacial Indifference"/>
              </a:rPr>
              <a:t>The tra</a:t>
            </a:r>
            <a:r>
              <a:rPr lang="en-US" sz="2900">
                <a:solidFill>
                  <a:srgbClr val="000000"/>
                </a:solidFill>
                <a:latin typeface="Glacial Indifference"/>
                <a:ea typeface="Glacial Indifference"/>
                <a:cs typeface="Glacial Indifference"/>
                <a:sym typeface="Glacial Indifference"/>
              </a:rPr>
              <a:t>ditional, naive approach to multi-pattern matching is to search the DNA sample sequentially for each genetic marker, one at a time. Using standard single-pattern algorithms like Knuth-Morris-Pratt (KMP) means the entire DNA sample must be re-read from scratch for every condition added to the testing panel. </a:t>
            </a:r>
          </a:p>
        </p:txBody>
      </p:sp>
      <p:sp>
        <p:nvSpPr>
          <p:cNvPr name="TextBox 12" id="12"/>
          <p:cNvSpPr txBox="true"/>
          <p:nvPr/>
        </p:nvSpPr>
        <p:spPr>
          <a:xfrm rot="0">
            <a:off x="2712152" y="6945873"/>
            <a:ext cx="13151666" cy="1866011"/>
          </a:xfrm>
          <a:prstGeom prst="rect">
            <a:avLst/>
          </a:prstGeom>
        </p:spPr>
        <p:txBody>
          <a:bodyPr anchor="t" rtlCol="false" tIns="0" lIns="0" bIns="0" rIns="0">
            <a:spAutoFit/>
          </a:bodyPr>
          <a:lstStyle/>
          <a:p>
            <a:pPr algn="just">
              <a:lnSpc>
                <a:spcPts val="3712"/>
              </a:lnSpc>
            </a:pPr>
            <a:r>
              <a:rPr lang="en-US" sz="2900">
                <a:solidFill>
                  <a:srgbClr val="000000"/>
                </a:solidFill>
                <a:latin typeface="Glacial Indifference"/>
                <a:ea typeface="Glacial Indifference"/>
                <a:cs typeface="Glacial Indifference"/>
                <a:sym typeface="Glacial Indifference"/>
              </a:rPr>
              <a:t>Consequent</a:t>
            </a:r>
            <a:r>
              <a:rPr lang="en-US" sz="2900">
                <a:solidFill>
                  <a:srgbClr val="000000"/>
                </a:solidFill>
                <a:latin typeface="Glacial Indifference"/>
                <a:ea typeface="Glacial Indifference"/>
                <a:cs typeface="Glacial Indifference"/>
                <a:sym typeface="Glacial Indifference"/>
              </a:rPr>
              <a:t>ly, the computational cost and processing time grow linearly with the number of disorders checked. This poor scaling behavior makes sequential searching highly inefficient and unsustainable for modern healthcare programs that continuously expand their screening panels.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Methodology</a:t>
            </a:r>
          </a:p>
        </p:txBody>
      </p:sp>
      <p:sp>
        <p:nvSpPr>
          <p:cNvPr name="TextBox 9" id="9"/>
          <p:cNvSpPr txBox="true"/>
          <p:nvPr/>
        </p:nvSpPr>
        <p:spPr>
          <a:xfrm rot="0">
            <a:off x="2069883" y="3677703"/>
            <a:ext cx="13993375" cy="6394450"/>
          </a:xfrm>
          <a:prstGeom prst="rect">
            <a:avLst/>
          </a:prstGeom>
        </p:spPr>
        <p:txBody>
          <a:bodyPr anchor="t" rtlCol="false" tIns="0" lIns="0" bIns="0" rIns="0">
            <a:spAutoFit/>
          </a:bodyPr>
          <a:lstStyle/>
          <a:p>
            <a:pPr algn="just">
              <a:lnSpc>
                <a:spcPts val="3199"/>
              </a:lnSpc>
            </a:pPr>
            <a:r>
              <a:rPr lang="en-US" sz="2499">
                <a:solidFill>
                  <a:srgbClr val="000000"/>
                </a:solidFill>
                <a:latin typeface="Glacial Indifference"/>
                <a:ea typeface="Glacial Indifference"/>
                <a:cs typeface="Glacial Indifference"/>
                <a:sym typeface="Glacial Indifference"/>
              </a:rPr>
              <a:t>This project res</a:t>
            </a:r>
            <a:r>
              <a:rPr lang="en-US" sz="2499">
                <a:solidFill>
                  <a:srgbClr val="000000"/>
                </a:solidFill>
                <a:latin typeface="Glacial Indifference"/>
                <a:ea typeface="Glacial Indifference"/>
                <a:cs typeface="Glacial Indifference"/>
                <a:sym typeface="Glacial Indifference"/>
              </a:rPr>
              <a:t>olves the scaling bottleneck by modeling the screening engine around the Aho–Corasick algorithm as the core solution, using a sequential Knuth–Morris–Pratt (KMP) algorithm as a baseline for empirical comparison.</a:t>
            </a:r>
          </a:p>
          <a:p>
            <a:pPr algn="just" marL="539748" indent="-269874" lvl="1">
              <a:lnSpc>
                <a:spcPts val="3199"/>
              </a:lnSpc>
              <a:buFont typeface="Arial"/>
              <a:buChar char="•"/>
            </a:pPr>
            <a:r>
              <a:rPr lang="en-US" sz="2499">
                <a:solidFill>
                  <a:srgbClr val="000000"/>
                </a:solidFill>
                <a:latin typeface="Glacial Indifference"/>
                <a:ea typeface="Glacial Indifference"/>
                <a:cs typeface="Glacial Indifference"/>
                <a:sym typeface="Glacial Indifference"/>
              </a:rPr>
              <a:t>Aho–Corasick Engine: The system inserts every disease marker from the panel into a specialized trie optimized for the 4-symbol DNA alphabet. A breadth-first search then constructs "failure links" across the tree, converting the trie into a single finite-state automaton. This allows the engine to scan the entire newborn DNA sample in a single pass. The processing time remains independent of the number of markers in the panel.</a:t>
            </a:r>
          </a:p>
          <a:p>
            <a:pPr algn="just" marL="539748" indent="-269874" lvl="1">
              <a:lnSpc>
                <a:spcPts val="3199"/>
              </a:lnSpc>
              <a:buFont typeface="Arial"/>
              <a:buChar char="•"/>
            </a:pPr>
            <a:r>
              <a:rPr lang="en-US" sz="2499">
                <a:solidFill>
                  <a:srgbClr val="000000"/>
                </a:solidFill>
                <a:latin typeface="Glacial Indifference"/>
                <a:ea typeface="Glacial Indifference"/>
                <a:cs typeface="Glacial Indifference"/>
                <a:sym typeface="Glacial Indifference"/>
              </a:rPr>
              <a:t>KMP Baseline: A sequential KMP search is implemented to run alongside the core engine, searching for each marker independently to generate benchmark data and empirically prove the scaling advantage of the automaton.</a:t>
            </a:r>
          </a:p>
          <a:p>
            <a:pPr algn="just" marL="539748" indent="-269874" lvl="1">
              <a:lnSpc>
                <a:spcPts val="3199"/>
              </a:lnSpc>
              <a:buFont typeface="Arial"/>
              <a:buChar char="•"/>
            </a:pPr>
            <a:r>
              <a:rPr lang="en-US" sz="2499">
                <a:solidFill>
                  <a:srgbClr val="000000"/>
                </a:solidFill>
                <a:latin typeface="Glacial Indifference"/>
                <a:ea typeface="Glacial Indifference"/>
                <a:cs typeface="Glacial Indifference"/>
                <a:sym typeface="Glacial Indifference"/>
              </a:rPr>
              <a:t>Data and Scope: The system uses public HBB reference gene sequences with synthetically introduced pathogenic variants for testing, ensuring no real patient genomic data is required. It is designed as a fast, first-pass screening layer that outputs structured, clinician-readable reports rather than raw match positions, supporting incremental panel updates without re-scanning previously processed samples.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Expected Outcome</a:t>
            </a:r>
          </a:p>
        </p:txBody>
      </p:sp>
      <p:sp>
        <p:nvSpPr>
          <p:cNvPr name="TextBox 9" id="9"/>
          <p:cNvSpPr txBox="true"/>
          <p:nvPr/>
        </p:nvSpPr>
        <p:spPr>
          <a:xfrm rot="0">
            <a:off x="2069883" y="3601503"/>
            <a:ext cx="13993375" cy="6372607"/>
          </a:xfrm>
          <a:prstGeom prst="rect">
            <a:avLst/>
          </a:prstGeom>
        </p:spPr>
        <p:txBody>
          <a:bodyPr anchor="t" rtlCol="false" tIns="0" lIns="0" bIns="0" rIns="0">
            <a:spAutoFit/>
          </a:bodyPr>
          <a:lstStyle/>
          <a:p>
            <a:pPr algn="just" marL="582927" indent="-291463" lvl="1">
              <a:lnSpc>
                <a:spcPts val="4211"/>
              </a:lnSpc>
              <a:buFont typeface="Arial"/>
              <a:buChar char="•"/>
            </a:pPr>
            <a:r>
              <a:rPr lang="en-US" sz="2699">
                <a:solidFill>
                  <a:srgbClr val="000000"/>
                </a:solidFill>
                <a:latin typeface="Inter"/>
                <a:ea typeface="Inter"/>
                <a:cs typeface="Inter"/>
                <a:sym typeface="Inter"/>
              </a:rPr>
              <a:t>A work</a:t>
            </a:r>
            <a:r>
              <a:rPr lang="en-US" sz="2699">
                <a:solidFill>
                  <a:srgbClr val="000000"/>
                </a:solidFill>
                <a:latin typeface="Inter"/>
                <a:ea typeface="Inter"/>
                <a:cs typeface="Inter"/>
                <a:sym typeface="Inter"/>
              </a:rPr>
              <a:t>ing Java-based screening engine that ingests a DNA sample and a marker panel, and returns a clinician-readable report identifying all matched conditions in a single pass, regardless of panel size</a:t>
            </a:r>
          </a:p>
          <a:p>
            <a:pPr algn="just" marL="582927" indent="-291463" lvl="1">
              <a:lnSpc>
                <a:spcPts val="4211"/>
              </a:lnSpc>
              <a:buFont typeface="Arial"/>
              <a:buChar char="•"/>
            </a:pPr>
            <a:r>
              <a:rPr lang="en-US" sz="2699">
                <a:solidFill>
                  <a:srgbClr val="000000"/>
                </a:solidFill>
                <a:latin typeface="Inter"/>
                <a:ea typeface="Inter"/>
                <a:cs typeface="Inter"/>
                <a:sym typeface="Inter"/>
              </a:rPr>
              <a:t>Empirical benchmark data (graphs/tables) demonstrating that Aho-Corasick scan time stays flat/near-constant as panel size grows, while KMP baseline scan time grows linearly — this is the core proof-of-concept result</a:t>
            </a:r>
          </a:p>
          <a:p>
            <a:pPr algn="just" marL="582927" indent="-291463" lvl="1">
              <a:lnSpc>
                <a:spcPts val="4211"/>
              </a:lnSpc>
              <a:buFont typeface="Arial"/>
              <a:buChar char="•"/>
            </a:pPr>
            <a:r>
              <a:rPr lang="en-US" sz="2699">
                <a:solidFill>
                  <a:srgbClr val="000000"/>
                </a:solidFill>
                <a:latin typeface="Inter"/>
                <a:ea typeface="Inter"/>
                <a:cs typeface="Inter"/>
                <a:sym typeface="Inter"/>
              </a:rPr>
              <a:t>A reusable, panel-agnostic architecture: adding the 41st marker costs the same as the 1st, in contrast to sequential approaches</a:t>
            </a:r>
          </a:p>
          <a:p>
            <a:pPr algn="just" marL="582927" indent="-291463" lvl="1">
              <a:lnSpc>
                <a:spcPts val="4211"/>
              </a:lnSpc>
              <a:buFont typeface="Arial"/>
              <a:buChar char="•"/>
            </a:pPr>
            <a:r>
              <a:rPr lang="en-US" sz="2699">
                <a:solidFill>
                  <a:srgbClr val="000000"/>
                </a:solidFill>
                <a:latin typeface="Inter"/>
                <a:ea typeface="Inter"/>
                <a:cs typeface="Inter"/>
                <a:sym typeface="Inter"/>
              </a:rPr>
              <a:t>Demonstrated correctness: both engines agree on match results for identical inputs, validating the automaton's accuracy against the trusted baseline</a:t>
            </a:r>
          </a:p>
          <a:p>
            <a:pPr algn="just" marL="582927" indent="-291463" lvl="1">
              <a:lnSpc>
                <a:spcPts val="4211"/>
              </a:lnSpc>
              <a:buFont typeface="Arial"/>
              <a:buChar char="•"/>
            </a:pPr>
            <a:r>
              <a:rPr lang="en-US" sz="2699">
                <a:solidFill>
                  <a:srgbClr val="000000"/>
                </a:solidFill>
                <a:latin typeface="Inter"/>
                <a:ea typeface="Inter"/>
                <a:cs typeface="Inter"/>
                <a:sym typeface="Inter"/>
              </a:rPr>
              <a:t>A functioning demo (dashboard + sample report) suitable for hackathon presentation, showing the "single scan vs sequential scan" advantage visually.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Proposed Functionalities</a:t>
            </a:r>
          </a:p>
        </p:txBody>
      </p:sp>
      <p:sp>
        <p:nvSpPr>
          <p:cNvPr name="TextBox 9" id="9"/>
          <p:cNvSpPr txBox="true"/>
          <p:nvPr/>
        </p:nvSpPr>
        <p:spPr>
          <a:xfrm rot="0">
            <a:off x="2069883" y="3601503"/>
            <a:ext cx="13993375" cy="6571107"/>
          </a:xfrm>
          <a:prstGeom prst="rect">
            <a:avLst/>
          </a:prstGeom>
        </p:spPr>
        <p:txBody>
          <a:bodyPr anchor="t" rtlCol="false" tIns="0" lIns="0" bIns="0" rIns="0">
            <a:spAutoFit/>
          </a:bodyPr>
          <a:lstStyle/>
          <a:p>
            <a:pPr algn="just">
              <a:lnSpc>
                <a:spcPts val="4211"/>
              </a:lnSpc>
            </a:pPr>
            <a:r>
              <a:rPr lang="en-US" sz="2699" b="true">
                <a:solidFill>
                  <a:srgbClr val="000000"/>
                </a:solidFill>
                <a:latin typeface="Inter Bold"/>
                <a:ea typeface="Inter Bold"/>
                <a:cs typeface="Inter Bold"/>
                <a:sym typeface="Inter Bold"/>
              </a:rPr>
              <a:t>1. Marker Pa</a:t>
            </a:r>
            <a:r>
              <a:rPr lang="en-US" b="true" sz="2699">
                <a:solidFill>
                  <a:srgbClr val="000000"/>
                </a:solidFill>
                <a:latin typeface="Inter Bold"/>
                <a:ea typeface="Inter Bold"/>
                <a:cs typeface="Inter Bold"/>
                <a:sym typeface="Inter Bold"/>
              </a:rPr>
              <a:t>nel Management</a:t>
            </a:r>
          </a:p>
          <a:p>
            <a:pPr algn="just" marL="582927" indent="-291463" lvl="1">
              <a:lnSpc>
                <a:spcPts val="4211"/>
              </a:lnSpc>
              <a:buFont typeface="Arial"/>
              <a:buChar char="•"/>
            </a:pPr>
            <a:r>
              <a:rPr lang="en-US" sz="2699">
                <a:solidFill>
                  <a:srgbClr val="000000"/>
                </a:solidFill>
                <a:latin typeface="Inter"/>
                <a:ea typeface="Inter"/>
                <a:cs typeface="Inter"/>
                <a:sym typeface="Inter"/>
              </a:rPr>
              <a:t>Add/remove/update disease markers (mutation signatures) in the screening panel without rebuilding the entire system from scratch</a:t>
            </a:r>
          </a:p>
          <a:p>
            <a:pPr algn="just" marL="582927" indent="-291463" lvl="1">
              <a:lnSpc>
                <a:spcPts val="4211"/>
              </a:lnSpc>
              <a:buFont typeface="Arial"/>
              <a:buChar char="•"/>
            </a:pPr>
            <a:r>
              <a:rPr lang="en-US" sz="2699">
                <a:solidFill>
                  <a:srgbClr val="000000"/>
                </a:solidFill>
                <a:latin typeface="Inter"/>
                <a:ea typeface="Inter"/>
                <a:cs typeface="Inter"/>
                <a:sym typeface="Inter"/>
              </a:rPr>
              <a:t>Support incremental automaton updates so a new marker doesn't require re-scanning already-processed samples</a:t>
            </a:r>
          </a:p>
          <a:p>
            <a:pPr algn="just" marL="582927" indent="-291463" lvl="1">
              <a:lnSpc>
                <a:spcPts val="4211"/>
              </a:lnSpc>
              <a:buFont typeface="Arial"/>
              <a:buChar char="•"/>
            </a:pPr>
            <a:r>
              <a:rPr lang="en-US" sz="2699">
                <a:solidFill>
                  <a:srgbClr val="000000"/>
                </a:solidFill>
                <a:latin typeface="Inter"/>
                <a:ea typeface="Inter"/>
                <a:cs typeface="Inter"/>
                <a:sym typeface="Inter"/>
              </a:rPr>
              <a:t>Store marker metadata: disease name, associated gene, mutation type (point mutation, deletion, insertion), clinical severity/urgency tag</a:t>
            </a:r>
          </a:p>
          <a:p>
            <a:pPr algn="just">
              <a:lnSpc>
                <a:spcPts val="3185"/>
              </a:lnSpc>
            </a:pPr>
            <a:r>
              <a:rPr lang="en-US" b="true" sz="2699">
                <a:solidFill>
                  <a:srgbClr val="000000"/>
                </a:solidFill>
                <a:latin typeface="Inter Bold"/>
                <a:ea typeface="Inter Bold"/>
                <a:cs typeface="Inter Bold"/>
                <a:sym typeface="Inter Bold"/>
              </a:rPr>
              <a:t>2. Dual-Engine Matching Core</a:t>
            </a:r>
          </a:p>
          <a:p>
            <a:pPr algn="just" marL="582927" indent="-291463" lvl="1">
              <a:lnSpc>
                <a:spcPts val="3185"/>
              </a:lnSpc>
              <a:buFont typeface="Arial"/>
              <a:buChar char="•"/>
            </a:pPr>
            <a:r>
              <a:rPr lang="en-US" sz="2699">
                <a:solidFill>
                  <a:srgbClr val="000000"/>
                </a:solidFill>
                <a:latin typeface="Inter"/>
                <a:ea typeface="Inter"/>
                <a:cs typeface="Inter"/>
                <a:sym typeface="Inter"/>
              </a:rPr>
              <a:t>Aho-Corasick engine: trie construction → BFS failure-link construction → single-pass automaton scan of the DNA sample</a:t>
            </a:r>
          </a:p>
          <a:p>
            <a:pPr algn="just" marL="582927" indent="-291463" lvl="1">
              <a:lnSpc>
                <a:spcPts val="3185"/>
              </a:lnSpc>
              <a:buFont typeface="Arial"/>
              <a:buChar char="•"/>
            </a:pPr>
            <a:r>
              <a:rPr lang="en-US" sz="2699">
                <a:solidFill>
                  <a:srgbClr val="000000"/>
                </a:solidFill>
                <a:latin typeface="Inter"/>
                <a:ea typeface="Inter"/>
                <a:cs typeface="Inter"/>
                <a:sym typeface="Inter"/>
              </a:rPr>
              <a:t>KMP baseline engine: sequential per-marker scan, used strictly as a performance comparison baseline, not for production screening</a:t>
            </a:r>
          </a:p>
          <a:p>
            <a:pPr algn="just" marL="582927" indent="-291463" lvl="1">
              <a:lnSpc>
                <a:spcPts val="3185"/>
              </a:lnSpc>
              <a:buFont typeface="Arial"/>
              <a:buChar char="•"/>
            </a:pPr>
            <a:r>
              <a:rPr lang="en-US" sz="2699">
                <a:solidFill>
                  <a:srgbClr val="000000"/>
                </a:solidFill>
                <a:latin typeface="Inter"/>
                <a:ea typeface="Inter"/>
                <a:cs typeface="Inter"/>
                <a:sym typeface="Inter"/>
              </a:rPr>
              <a:t>Both engines should output identical match sets (marker ID, position, matched substring) so correctness can be cross-validated.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Proposed Functionalities</a:t>
            </a:r>
          </a:p>
        </p:txBody>
      </p:sp>
      <p:sp>
        <p:nvSpPr>
          <p:cNvPr name="TextBox 9" id="9"/>
          <p:cNvSpPr txBox="true"/>
          <p:nvPr/>
        </p:nvSpPr>
        <p:spPr>
          <a:xfrm rot="0">
            <a:off x="2069883" y="3630078"/>
            <a:ext cx="13993375" cy="6416421"/>
          </a:xfrm>
          <a:prstGeom prst="rect">
            <a:avLst/>
          </a:prstGeom>
        </p:spPr>
        <p:txBody>
          <a:bodyPr anchor="t" rtlCol="false" tIns="0" lIns="0" bIns="0" rIns="0">
            <a:spAutoFit/>
          </a:bodyPr>
          <a:lstStyle/>
          <a:p>
            <a:pPr algn="just">
              <a:lnSpc>
                <a:spcPts val="3941"/>
              </a:lnSpc>
            </a:pPr>
            <a:r>
              <a:rPr lang="en-US" sz="2699" b="true">
                <a:solidFill>
                  <a:srgbClr val="000000"/>
                </a:solidFill>
                <a:latin typeface="Inter Bold"/>
                <a:ea typeface="Inter Bold"/>
                <a:cs typeface="Inter Bold"/>
                <a:sym typeface="Inter Bold"/>
              </a:rPr>
              <a:t>3. Benchmarking &amp; Sca</a:t>
            </a:r>
            <a:r>
              <a:rPr lang="en-US" b="true" sz="2699">
                <a:solidFill>
                  <a:srgbClr val="000000"/>
                </a:solidFill>
                <a:latin typeface="Inter Bold"/>
                <a:ea typeface="Inter Bold"/>
                <a:cs typeface="Inter Bold"/>
                <a:sym typeface="Inter Bold"/>
              </a:rPr>
              <a:t>ling Analysis Module</a:t>
            </a:r>
          </a:p>
          <a:p>
            <a:pPr algn="just" marL="582927" indent="-291463" lvl="1">
              <a:lnSpc>
                <a:spcPts val="3941"/>
              </a:lnSpc>
              <a:buFont typeface="Arial"/>
              <a:buChar char="•"/>
            </a:pPr>
            <a:r>
              <a:rPr lang="en-US" sz="2699">
                <a:solidFill>
                  <a:srgbClr val="000000"/>
                </a:solidFill>
                <a:latin typeface="Inter"/>
                <a:ea typeface="Inter"/>
                <a:cs typeface="Inter"/>
                <a:sym typeface="Inter"/>
              </a:rPr>
              <a:t>Automatically run both engines on the same sample across increasing panel sizes (e.g., 5, 10, 20, 40, 80 markers)</a:t>
            </a:r>
          </a:p>
          <a:p>
            <a:pPr algn="just" marL="582927" indent="-291463" lvl="1">
              <a:lnSpc>
                <a:spcPts val="3941"/>
              </a:lnSpc>
              <a:buFont typeface="Arial"/>
              <a:buChar char="•"/>
            </a:pPr>
            <a:r>
              <a:rPr lang="en-US" sz="2699">
                <a:solidFill>
                  <a:srgbClr val="000000"/>
                </a:solidFill>
                <a:latin typeface="Inter"/>
                <a:ea typeface="Inter"/>
                <a:cs typeface="Inter"/>
                <a:sym typeface="Inter"/>
              </a:rPr>
              <a:t>Log execution time, memory footprint, and comparisons/operations count</a:t>
            </a:r>
          </a:p>
          <a:p>
            <a:pPr algn="just" marL="582927" indent="-291463" lvl="1">
              <a:lnSpc>
                <a:spcPts val="3941"/>
              </a:lnSpc>
              <a:buFont typeface="Arial"/>
              <a:buChar char="•"/>
            </a:pPr>
            <a:r>
              <a:rPr lang="en-US" sz="2699">
                <a:solidFill>
                  <a:srgbClr val="000000"/>
                </a:solidFill>
                <a:latin typeface="Inter"/>
                <a:ea typeface="Inter"/>
                <a:cs typeface="Inter"/>
                <a:sym typeface="Inter"/>
              </a:rPr>
              <a:t>Auto-generate a scaling graph (time vs. panel size) showing linear growth for KMP vs. flat/near-constant growth for Aho-Corasick</a:t>
            </a:r>
          </a:p>
          <a:p>
            <a:pPr algn="just">
              <a:lnSpc>
                <a:spcPts val="3941"/>
              </a:lnSpc>
            </a:pPr>
            <a:r>
              <a:rPr lang="en-US" b="true" sz="2699">
                <a:solidFill>
                  <a:srgbClr val="000000"/>
                </a:solidFill>
                <a:latin typeface="Inter Bold"/>
                <a:ea typeface="Inter Bold"/>
                <a:cs typeface="Inter Bold"/>
                <a:sym typeface="Inter Bold"/>
              </a:rPr>
              <a:t>4. Clinician-Readable Report Generator</a:t>
            </a:r>
          </a:p>
          <a:p>
            <a:pPr algn="just" marL="582927" indent="-291463" lvl="1">
              <a:lnSpc>
                <a:spcPts val="3941"/>
              </a:lnSpc>
              <a:buFont typeface="Arial"/>
              <a:buChar char="•"/>
            </a:pPr>
            <a:r>
              <a:rPr lang="en-US" sz="2699">
                <a:solidFill>
                  <a:srgbClr val="000000"/>
                </a:solidFill>
                <a:latin typeface="Inter"/>
                <a:ea typeface="Inter"/>
                <a:cs typeface="Inter"/>
                <a:sym typeface="Inter"/>
              </a:rPr>
              <a:t>Convert raw match positions into structured output: condition name, gene, confidence/match quality, position in reference gene, recommended next step (e.g., "confirmatory test recommended")</a:t>
            </a:r>
          </a:p>
          <a:p>
            <a:pPr algn="just" marL="582927" indent="-291463" lvl="1">
              <a:lnSpc>
                <a:spcPts val="3941"/>
              </a:lnSpc>
              <a:buFont typeface="Arial"/>
              <a:buChar char="•"/>
            </a:pPr>
            <a:r>
              <a:rPr lang="en-US" sz="2699">
                <a:solidFill>
                  <a:srgbClr val="000000"/>
                </a:solidFill>
                <a:latin typeface="Inter"/>
                <a:ea typeface="Inter"/>
                <a:cs typeface="Inter"/>
                <a:sym typeface="Inter"/>
              </a:rPr>
              <a:t>Export as PDF/structured JSON, not raw match dumps</a:t>
            </a:r>
          </a:p>
          <a:p>
            <a:pPr algn="just" marL="582927" indent="-291463" lvl="1">
              <a:lnSpc>
                <a:spcPts val="3941"/>
              </a:lnSpc>
              <a:buFont typeface="Arial"/>
              <a:buChar char="•"/>
            </a:pPr>
            <a:r>
              <a:rPr lang="en-US" sz="2699">
                <a:solidFill>
                  <a:srgbClr val="000000"/>
                </a:solidFill>
                <a:latin typeface="Inter"/>
                <a:ea typeface="Inter"/>
                <a:cs typeface="Inter"/>
                <a:sym typeface="Inter"/>
              </a:rPr>
              <a:t>Flag multiple co-occurring conditions distinctly (important for compound heterozygous cases like Sickle Cell + Beta-thalassemia)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Proposed Functionalities</a:t>
            </a:r>
          </a:p>
        </p:txBody>
      </p:sp>
      <p:sp>
        <p:nvSpPr>
          <p:cNvPr name="TextBox 9" id="9"/>
          <p:cNvSpPr txBox="true"/>
          <p:nvPr/>
        </p:nvSpPr>
        <p:spPr>
          <a:xfrm rot="0">
            <a:off x="2069883" y="3601503"/>
            <a:ext cx="13993375" cy="6317489"/>
          </a:xfrm>
          <a:prstGeom prst="rect">
            <a:avLst/>
          </a:prstGeom>
        </p:spPr>
        <p:txBody>
          <a:bodyPr anchor="t" rtlCol="false" tIns="0" lIns="0" bIns="0" rIns="0">
            <a:spAutoFit/>
          </a:bodyPr>
          <a:lstStyle/>
          <a:p>
            <a:pPr algn="just">
              <a:lnSpc>
                <a:spcPts val="5109"/>
              </a:lnSpc>
            </a:pPr>
            <a:r>
              <a:rPr lang="en-US" sz="3499" b="true">
                <a:solidFill>
                  <a:srgbClr val="000000"/>
                </a:solidFill>
                <a:latin typeface="Inter Bold"/>
                <a:ea typeface="Inter Bold"/>
                <a:cs typeface="Inter Bold"/>
                <a:sym typeface="Inter Bold"/>
              </a:rPr>
              <a:t>5. Synthetic Data</a:t>
            </a:r>
            <a:r>
              <a:rPr lang="en-US" b="true" sz="3499">
                <a:solidFill>
                  <a:srgbClr val="000000"/>
                </a:solidFill>
                <a:latin typeface="Inter Bold"/>
                <a:ea typeface="Inter Bold"/>
                <a:cs typeface="Inter Bold"/>
                <a:sym typeface="Inter Bold"/>
              </a:rPr>
              <a:t> Generator</a:t>
            </a:r>
          </a:p>
          <a:p>
            <a:pPr algn="just" marL="755642" indent="-377821" lvl="1">
              <a:lnSpc>
                <a:spcPts val="5109"/>
              </a:lnSpc>
              <a:buFont typeface="Arial"/>
              <a:buChar char="•"/>
            </a:pPr>
            <a:r>
              <a:rPr lang="en-US" sz="3499">
                <a:solidFill>
                  <a:srgbClr val="000000"/>
                </a:solidFill>
                <a:latin typeface="Inter"/>
                <a:ea typeface="Inter"/>
                <a:cs typeface="Inter"/>
                <a:sym typeface="Inter"/>
              </a:rPr>
              <a:t>Module to take a public HBB reference sequence and inject synthetic pathogenic variants at controlled positions/frequencies, so the system can be tested without real patient data and with reproducible test cases</a:t>
            </a:r>
          </a:p>
          <a:p>
            <a:pPr algn="just">
              <a:lnSpc>
                <a:spcPts val="5109"/>
              </a:lnSpc>
            </a:pPr>
            <a:r>
              <a:rPr lang="en-US" b="true" sz="3499">
                <a:solidFill>
                  <a:srgbClr val="000000"/>
                </a:solidFill>
                <a:latin typeface="Inter Bold"/>
                <a:ea typeface="Inter Bold"/>
                <a:cs typeface="Inter Bold"/>
                <a:sym typeface="Inter Bold"/>
              </a:rPr>
              <a:t>6. Visualization Dashboard</a:t>
            </a:r>
          </a:p>
          <a:p>
            <a:pPr algn="just" marL="755642" indent="-377821" lvl="1">
              <a:lnSpc>
                <a:spcPts val="5109"/>
              </a:lnSpc>
              <a:buFont typeface="Arial"/>
              <a:buChar char="•"/>
            </a:pPr>
            <a:r>
              <a:rPr lang="en-US" sz="3499">
                <a:solidFill>
                  <a:srgbClr val="000000"/>
                </a:solidFill>
                <a:latin typeface="Inter"/>
                <a:ea typeface="Inter"/>
                <a:cs typeface="Inter"/>
                <a:sym typeface="Inter"/>
              </a:rPr>
              <a:t>Show trie/automaton structure for demo purposes</a:t>
            </a:r>
          </a:p>
          <a:p>
            <a:pPr algn="just" marL="755642" indent="-377821" lvl="1">
              <a:lnSpc>
                <a:spcPts val="5109"/>
              </a:lnSpc>
              <a:buFont typeface="Arial"/>
              <a:buChar char="•"/>
            </a:pPr>
            <a:r>
              <a:rPr lang="en-US" sz="3499">
                <a:solidFill>
                  <a:srgbClr val="000000"/>
                </a:solidFill>
                <a:latin typeface="Inter"/>
                <a:ea typeface="Inter"/>
                <a:cs typeface="Inter"/>
                <a:sym typeface="Inter"/>
              </a:rPr>
              <a:t>Show live scan progress and match highlights against the reference sequence</a:t>
            </a:r>
          </a:p>
          <a:p>
            <a:pPr algn="just">
              <a:lnSpc>
                <a:spcPts val="394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Future Scope</a:t>
            </a:r>
          </a:p>
        </p:txBody>
      </p:sp>
      <p:sp>
        <p:nvSpPr>
          <p:cNvPr name="TextBox 9" id="9"/>
          <p:cNvSpPr txBox="true"/>
          <p:nvPr/>
        </p:nvSpPr>
        <p:spPr>
          <a:xfrm rot="0">
            <a:off x="1869309" y="3649128"/>
            <a:ext cx="14268248" cy="7131558"/>
          </a:xfrm>
          <a:prstGeom prst="rect">
            <a:avLst/>
          </a:prstGeom>
        </p:spPr>
        <p:txBody>
          <a:bodyPr anchor="t" rtlCol="false" tIns="0" lIns="0" bIns="0" rIns="0">
            <a:spAutoFit/>
          </a:bodyPr>
          <a:lstStyle/>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Approximate/fuzzy matching:</a:t>
            </a:r>
            <a:r>
              <a:rPr lang="en-US" sz="2699">
                <a:solidFill>
                  <a:srgbClr val="000000"/>
                </a:solidFill>
                <a:latin typeface="Inter"/>
                <a:ea typeface="Inter"/>
                <a:cs typeface="Inter"/>
                <a:sym typeface="Inter"/>
              </a:rPr>
              <a:t> extend Aho-Corasick to tolerate SNPs or sequencing errors (e.g., via Aho-Corasick + edit-distance hybrid, or Bitap-style approximate matching) since real sequencing reads aren't always perfect</a:t>
            </a:r>
          </a:p>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Expand beyond HBB:</a:t>
            </a:r>
            <a:r>
              <a:rPr lang="en-US" sz="2699">
                <a:solidFill>
                  <a:srgbClr val="000000"/>
                </a:solidFill>
                <a:latin typeface="Inter"/>
                <a:ea typeface="Inter"/>
                <a:cs typeface="Inter"/>
                <a:sym typeface="Inter"/>
              </a:rPr>
              <a:t> generalize the panel to other well-characterized single-gene disorders (e.g., CFTR for Cystic Fibrosis, G6PD deficiency) to move toward a true multi-disorder newborn panel</a:t>
            </a:r>
          </a:p>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Parallelization: </a:t>
            </a:r>
            <a:r>
              <a:rPr lang="en-US" sz="2699">
                <a:solidFill>
                  <a:srgbClr val="000000"/>
                </a:solidFill>
                <a:latin typeface="Inter"/>
                <a:ea typeface="Inter"/>
                <a:cs typeface="Inter"/>
                <a:sym typeface="Inter"/>
              </a:rPr>
              <a:t>multi-threaded scanning for whole-genome-scale inputs rather than single-gene reference sequences</a:t>
            </a:r>
          </a:p>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Integration with real screening pipelines:</a:t>
            </a:r>
            <a:r>
              <a:rPr lang="en-US" sz="2699">
                <a:solidFill>
                  <a:srgbClr val="000000"/>
                </a:solidFill>
                <a:latin typeface="Inter"/>
                <a:ea typeface="Inter"/>
                <a:cs typeface="Inter"/>
                <a:sym typeface="Inter"/>
              </a:rPr>
              <a:t> FASTQ/BAM file format support instead of raw string input, aligning with actual lab workflows</a:t>
            </a:r>
          </a:p>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Cloud/edge deployment: </a:t>
            </a:r>
            <a:r>
              <a:rPr lang="en-US" sz="2699">
                <a:solidFill>
                  <a:srgbClr val="000000"/>
                </a:solidFill>
                <a:latin typeface="Inter"/>
                <a:ea typeface="Inter"/>
                <a:cs typeface="Inter"/>
                <a:sym typeface="Inter"/>
              </a:rPr>
              <a:t>package as a microservice so district-level health centers can query a centralized panel without needing local compute power</a:t>
            </a:r>
          </a:p>
          <a:p>
            <a:pPr algn="just" marL="582927" indent="-291463" lvl="1">
              <a:lnSpc>
                <a:spcPts val="3779"/>
              </a:lnSpc>
              <a:buFont typeface="Arial"/>
              <a:buChar char="•"/>
            </a:pPr>
            <a:r>
              <a:rPr lang="en-US" b="true" sz="2699">
                <a:solidFill>
                  <a:srgbClr val="000000"/>
                </a:solidFill>
                <a:latin typeface="Inter Bold"/>
                <a:ea typeface="Inter Bold"/>
                <a:cs typeface="Inter Bold"/>
                <a:sym typeface="Inter Bold"/>
              </a:rPr>
              <a:t>Regulatory alignment: d</a:t>
            </a:r>
            <a:r>
              <a:rPr lang="en-US" sz="2699">
                <a:solidFill>
                  <a:srgbClr val="000000"/>
                </a:solidFill>
                <a:latin typeface="Inter"/>
                <a:ea typeface="Inter"/>
                <a:cs typeface="Inter"/>
                <a:sym typeface="Inter"/>
              </a:rPr>
              <a:t>esign report format to align with ICMR/NSCAEM reporting standards for future real-world pilot use.</a:t>
            </a:r>
          </a:p>
          <a:p>
            <a:pPr algn="just">
              <a:lnSpc>
                <a:spcPts val="394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0">
            <a:off x="1869309" y="3472850"/>
            <a:ext cx="14549383" cy="7661326"/>
            <a:chOff x="0" y="0"/>
            <a:chExt cx="2993700" cy="1576405"/>
          </a:xfrm>
        </p:grpSpPr>
        <p:sp>
          <p:nvSpPr>
            <p:cNvPr name="Freeform 3" id="3"/>
            <p:cNvSpPr/>
            <p:nvPr/>
          </p:nvSpPr>
          <p:spPr>
            <a:xfrm flipH="false" flipV="false" rot="0">
              <a:off x="0" y="0"/>
              <a:ext cx="2993700" cy="1576405"/>
            </a:xfrm>
            <a:custGeom>
              <a:avLst/>
              <a:gdLst/>
              <a:ahLst/>
              <a:cxnLst/>
              <a:rect r="r" b="b" t="t" l="l"/>
              <a:pathLst>
                <a:path h="1576405" w="2993700">
                  <a:moveTo>
                    <a:pt x="0" y="0"/>
                  </a:moveTo>
                  <a:lnTo>
                    <a:pt x="2993700" y="0"/>
                  </a:lnTo>
                  <a:lnTo>
                    <a:pt x="2993700" y="1576405"/>
                  </a:lnTo>
                  <a:lnTo>
                    <a:pt x="0" y="1576405"/>
                  </a:lnTo>
                  <a:close/>
                </a:path>
              </a:pathLst>
            </a:custGeom>
            <a:solidFill>
              <a:srgbClr val="FFF6E8"/>
            </a:solidFill>
          </p:spPr>
        </p:sp>
        <p:sp>
          <p:nvSpPr>
            <p:cNvPr name="TextBox 4" id="4"/>
            <p:cNvSpPr txBox="true"/>
            <p:nvPr/>
          </p:nvSpPr>
          <p:spPr>
            <a:xfrm>
              <a:off x="0" y="-38100"/>
              <a:ext cx="2993700" cy="161450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09254" y="-408727"/>
            <a:ext cx="4010958" cy="2969439"/>
          </a:xfrm>
          <a:custGeom>
            <a:avLst/>
            <a:gdLst/>
            <a:ahLst/>
            <a:cxnLst/>
            <a:rect r="r" b="b" t="t" l="l"/>
            <a:pathLst>
              <a:path h="2969439" w="4010958">
                <a:moveTo>
                  <a:pt x="0" y="0"/>
                </a:moveTo>
                <a:lnTo>
                  <a:pt x="4010958" y="0"/>
                </a:lnTo>
                <a:lnTo>
                  <a:pt x="4010958" y="2969438"/>
                </a:lnTo>
                <a:lnTo>
                  <a:pt x="0" y="2969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4596379" y="-408727"/>
            <a:ext cx="4260122" cy="4105480"/>
          </a:xfrm>
          <a:custGeom>
            <a:avLst/>
            <a:gdLst/>
            <a:ahLst/>
            <a:cxnLst/>
            <a:rect r="r" b="b" t="t" l="l"/>
            <a:pathLst>
              <a:path h="4105480" w="4260122">
                <a:moveTo>
                  <a:pt x="4260122" y="4105480"/>
                </a:moveTo>
                <a:lnTo>
                  <a:pt x="0" y="4105480"/>
                </a:lnTo>
                <a:lnTo>
                  <a:pt x="0" y="0"/>
                </a:lnTo>
                <a:lnTo>
                  <a:pt x="4260122" y="0"/>
                </a:lnTo>
                <a:lnTo>
                  <a:pt x="4260122" y="41054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5482524" y="-408727"/>
            <a:ext cx="3373977" cy="3251502"/>
          </a:xfrm>
          <a:custGeom>
            <a:avLst/>
            <a:gdLst/>
            <a:ahLst/>
            <a:cxnLst/>
            <a:rect r="r" b="b" t="t" l="l"/>
            <a:pathLst>
              <a:path h="3251502" w="3373977">
                <a:moveTo>
                  <a:pt x="3373977" y="3251502"/>
                </a:moveTo>
                <a:lnTo>
                  <a:pt x="0" y="3251502"/>
                </a:lnTo>
                <a:lnTo>
                  <a:pt x="0" y="0"/>
                </a:lnTo>
                <a:lnTo>
                  <a:pt x="3373977" y="0"/>
                </a:lnTo>
                <a:lnTo>
                  <a:pt x="3373977" y="3251502"/>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8" id="8"/>
          <p:cNvGraphicFramePr>
            <a:graphicFrameLocks noGrp="true"/>
          </p:cNvGraphicFramePr>
          <p:nvPr/>
        </p:nvGraphicFramePr>
        <p:xfrm>
          <a:off x="2246475" y="3696753"/>
          <a:ext cx="13795050" cy="6394394"/>
        </p:xfrm>
        <a:graphic>
          <a:graphicData uri="http://schemas.openxmlformats.org/drawingml/2006/table">
            <a:tbl>
              <a:tblPr/>
              <a:tblGrid>
                <a:gridCol w="7206326"/>
                <a:gridCol w="6588724"/>
              </a:tblGrid>
              <a:tr h="939045">
                <a:tc>
                  <a:txBody>
                    <a:bodyPr anchor="t" rtlCol="false"/>
                    <a:lstStyle/>
                    <a:p>
                      <a:pPr algn="ctr">
                        <a:lnSpc>
                          <a:spcPts val="3639"/>
                        </a:lnSpc>
                        <a:defRPr/>
                      </a:pPr>
                      <a:r>
                        <a:rPr lang="en-US" sz="2599" b="true">
                          <a:solidFill>
                            <a:srgbClr val="000000"/>
                          </a:solidFill>
                          <a:latin typeface="Canva Sans Bold"/>
                          <a:ea typeface="Canva Sans Bold"/>
                          <a:cs typeface="Canva Sans Bold"/>
                          <a:sym typeface="Canva Sans Bold"/>
                        </a:rPr>
                        <a:t>Software Required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8A4A3"/>
                    </a:solidFill>
                  </a:tcPr>
                </a:tc>
                <a:tc>
                  <a:txBody>
                    <a:bodyPr anchor="t" rtlCol="false"/>
                    <a:lstStyle/>
                    <a:p>
                      <a:pPr algn="ctr" marL="0" indent="0" lvl="0">
                        <a:lnSpc>
                          <a:spcPts val="3639"/>
                        </a:lnSpc>
                        <a:spcBef>
                          <a:spcPct val="0"/>
                        </a:spcBef>
                        <a:defRPr/>
                      </a:pPr>
                      <a:r>
                        <a:rPr lang="en-US" b="true" sz="2599" strike="noStrike" u="none">
                          <a:solidFill>
                            <a:srgbClr val="000000"/>
                          </a:solidFill>
                          <a:latin typeface="Canva Sans Bold"/>
                          <a:ea typeface="Canva Sans Bold"/>
                          <a:cs typeface="Canva Sans Bold"/>
                          <a:sym typeface="Canva Sans Bold"/>
                        </a:rPr>
                        <a:t>Software Used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A8A4A3"/>
                    </a:solidFill>
                  </a:tcPr>
                </a:tc>
              </a:tr>
              <a:tr h="804896">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Programming Language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Java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04896">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IDE + Compiler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Visual Studio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40269">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Data Source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NCBI/Ensembl public HBB reference sequences (FASTA format)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75642">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Backend + API + 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SQLite/PostegreSQL</a:t>
                      </a:r>
                      <a:endParaRPr lang="en-US" sz="1100"/>
                    </a:p>
                    <a:p>
                      <a:pPr algn="ctr">
                        <a:lnSpc>
                          <a:spcPts val="2659"/>
                        </a:lnSpc>
                      </a:pPr>
                      <a:r>
                        <a:rPr lang="en-US" sz="1899">
                          <a:solidFill>
                            <a:srgbClr val="000000"/>
                          </a:solidFill>
                          <a:latin typeface="Canva Sans"/>
                          <a:ea typeface="Canva Sans"/>
                          <a:cs typeface="Canva Sans"/>
                          <a:sym typeface="Canva Sans"/>
                        </a:rPr>
                        <a:t>FastAPI or Flask</a:t>
                      </a:r>
                    </a:p>
                    <a:p>
                      <a:pPr algn="ctr">
                        <a:lnSpc>
                          <a:spcPts val="2659"/>
                        </a:lnSpc>
                      </a:pPr>
                      <a:r>
                        <a:rPr lang="en-US" sz="1899">
                          <a:solidFill>
                            <a:srgbClr val="000000"/>
                          </a:solidFill>
                          <a:latin typeface="Canva Sans"/>
                          <a:ea typeface="Canva Sans"/>
                          <a:cs typeface="Canva Sans"/>
                          <a:sym typeface="Canva Sans"/>
                        </a:rPr>
                        <a:t>React</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9645">
                <a:tc>
                  <a:txBody>
                    <a:bodyPr anchor="t" rtlCol="false"/>
                    <a:lstStyle/>
                    <a:p>
                      <a:pPr algn="ctr">
                        <a:lnSpc>
                          <a:spcPts val="2659"/>
                        </a:lnSpc>
                        <a:defRPr/>
                      </a:pPr>
                      <a:r>
                        <a:rPr lang="en-US" sz="1899" b="true">
                          <a:solidFill>
                            <a:srgbClr val="000000"/>
                          </a:solidFill>
                          <a:latin typeface="Canva Sans Bold"/>
                          <a:ea typeface="Canva Sans Bold"/>
                          <a:cs typeface="Canva Sans Bold"/>
                          <a:sym typeface="Canva Sans Bold"/>
                        </a:rPr>
                        <a:t>Version Control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Canva Sans"/>
                          <a:ea typeface="Canva Sans"/>
                          <a:cs typeface="Canva Sans"/>
                          <a:sym typeface="Canva Sans"/>
                        </a:rPr>
                        <a:t>Git &amp; GitHub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3790975" y="1873641"/>
            <a:ext cx="10706050" cy="991870"/>
          </a:xfrm>
          <a:prstGeom prst="rect">
            <a:avLst/>
          </a:prstGeom>
        </p:spPr>
        <p:txBody>
          <a:bodyPr anchor="t" rtlCol="false" tIns="0" lIns="0" bIns="0" rIns="0">
            <a:spAutoFit/>
          </a:bodyPr>
          <a:lstStyle/>
          <a:p>
            <a:pPr algn="ctr">
              <a:lnSpc>
                <a:spcPts val="7865"/>
              </a:lnSpc>
            </a:pPr>
            <a:r>
              <a:rPr lang="en-US" sz="6500" b="true">
                <a:solidFill>
                  <a:srgbClr val="000000"/>
                </a:solidFill>
                <a:latin typeface="Inter Ultra-Bold"/>
                <a:ea typeface="Inter Ultra-Bold"/>
                <a:cs typeface="Inter Ultra-Bold"/>
                <a:sym typeface="Inter Ultra-Bold"/>
              </a:rPr>
              <a:t>Software Requirements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FFF"/>
        </a:solidFill>
      </p:bgPr>
    </p:bg>
    <p:spTree>
      <p:nvGrpSpPr>
        <p:cNvPr id="1" name=""/>
        <p:cNvGrpSpPr/>
        <p:nvPr/>
      </p:nvGrpSpPr>
      <p:grpSpPr>
        <a:xfrm>
          <a:off x="0" y="0"/>
          <a:ext cx="0" cy="0"/>
          <a:chOff x="0" y="0"/>
          <a:chExt cx="0" cy="0"/>
        </a:xfrm>
      </p:grpSpPr>
      <p:grpSp>
        <p:nvGrpSpPr>
          <p:cNvPr name="Group 2" id="2"/>
          <p:cNvGrpSpPr/>
          <p:nvPr/>
        </p:nvGrpSpPr>
        <p:grpSpPr>
          <a:xfrm rot="-10800000">
            <a:off x="16193797" y="-553116"/>
            <a:ext cx="2739909" cy="11393232"/>
            <a:chOff x="0" y="0"/>
            <a:chExt cx="3653212" cy="15190976"/>
          </a:xfrm>
        </p:grpSpPr>
        <p:grpSp>
          <p:nvGrpSpPr>
            <p:cNvPr name="Group 3" id="3"/>
            <p:cNvGrpSpPr/>
            <p:nvPr/>
          </p:nvGrpSpPr>
          <p:grpSpPr>
            <a:xfrm rot="0">
              <a:off x="0" y="0"/>
              <a:ext cx="3653212" cy="15190976"/>
              <a:chOff x="0" y="0"/>
              <a:chExt cx="563767" cy="2344286"/>
            </a:xfrm>
          </p:grpSpPr>
          <p:sp>
            <p:nvSpPr>
              <p:cNvPr name="Freeform 4" id="4"/>
              <p:cNvSpPr/>
              <p:nvPr/>
            </p:nvSpPr>
            <p:spPr>
              <a:xfrm flipH="false" flipV="false" rot="0">
                <a:off x="0" y="0"/>
                <a:ext cx="563767" cy="2344286"/>
              </a:xfrm>
              <a:custGeom>
                <a:avLst/>
                <a:gdLst/>
                <a:ahLst/>
                <a:cxnLst/>
                <a:rect r="r" b="b" t="t" l="l"/>
                <a:pathLst>
                  <a:path h="2344286" w="563767">
                    <a:moveTo>
                      <a:pt x="0" y="0"/>
                    </a:moveTo>
                    <a:lnTo>
                      <a:pt x="563767" y="0"/>
                    </a:lnTo>
                    <a:lnTo>
                      <a:pt x="563767" y="2344286"/>
                    </a:lnTo>
                    <a:lnTo>
                      <a:pt x="0" y="2344286"/>
                    </a:lnTo>
                    <a:close/>
                  </a:path>
                </a:pathLst>
              </a:custGeom>
              <a:solidFill>
                <a:srgbClr val="896245"/>
              </a:solidFill>
            </p:spPr>
          </p:sp>
          <p:sp>
            <p:nvSpPr>
              <p:cNvPr name="TextBox 5" id="5"/>
              <p:cNvSpPr txBox="true"/>
              <p:nvPr/>
            </p:nvSpPr>
            <p:spPr>
              <a:xfrm>
                <a:off x="0" y="-38100"/>
                <a:ext cx="563767" cy="238238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0" y="2109088"/>
              <a:ext cx="2504227" cy="10972800"/>
              <a:chOff x="0" y="0"/>
              <a:chExt cx="386455" cy="1693333"/>
            </a:xfrm>
          </p:grpSpPr>
          <p:sp>
            <p:nvSpPr>
              <p:cNvPr name="Freeform 7" id="7"/>
              <p:cNvSpPr/>
              <p:nvPr/>
            </p:nvSpPr>
            <p:spPr>
              <a:xfrm flipH="false" flipV="false" rot="0">
                <a:off x="0" y="0"/>
                <a:ext cx="386455" cy="1693333"/>
              </a:xfrm>
              <a:custGeom>
                <a:avLst/>
                <a:gdLst/>
                <a:ahLst/>
                <a:cxnLst/>
                <a:rect r="r" b="b" t="t" l="l"/>
                <a:pathLst>
                  <a:path h="1693333" w="386455">
                    <a:moveTo>
                      <a:pt x="0" y="0"/>
                    </a:moveTo>
                    <a:lnTo>
                      <a:pt x="386455" y="0"/>
                    </a:lnTo>
                    <a:lnTo>
                      <a:pt x="386455" y="1693333"/>
                    </a:lnTo>
                    <a:lnTo>
                      <a:pt x="0" y="1693333"/>
                    </a:lnTo>
                    <a:close/>
                  </a:path>
                </a:pathLst>
              </a:custGeom>
              <a:solidFill>
                <a:srgbClr val="896245"/>
              </a:solidFill>
            </p:spPr>
          </p:sp>
          <p:sp>
            <p:nvSpPr>
              <p:cNvPr name="TextBox 8" id="8"/>
              <p:cNvSpPr txBox="true"/>
              <p:nvPr/>
            </p:nvSpPr>
            <p:spPr>
              <a:xfrm>
                <a:off x="0" y="-38100"/>
                <a:ext cx="386455" cy="1731433"/>
              </a:xfrm>
              <a:prstGeom prst="rect">
                <a:avLst/>
              </a:prstGeom>
            </p:spPr>
            <p:txBody>
              <a:bodyPr anchor="ctr" rtlCol="false" tIns="50800" lIns="50800" bIns="50800" rIns="50800"/>
              <a:lstStyle/>
              <a:p>
                <a:pPr algn="ctr">
                  <a:lnSpc>
                    <a:spcPts val="2659"/>
                  </a:lnSpc>
                  <a:spcBef>
                    <a:spcPct val="0"/>
                  </a:spcBef>
                </a:pPr>
              </a:p>
            </p:txBody>
          </p:sp>
        </p:grpSp>
      </p:grpSp>
      <p:sp>
        <p:nvSpPr>
          <p:cNvPr name="Freeform 9" id="9"/>
          <p:cNvSpPr/>
          <p:nvPr/>
        </p:nvSpPr>
        <p:spPr>
          <a:xfrm flipH="true" flipV="false" rot="-10800000">
            <a:off x="-857083" y="-553116"/>
            <a:ext cx="5050576" cy="4867241"/>
          </a:xfrm>
          <a:custGeom>
            <a:avLst/>
            <a:gdLst/>
            <a:ahLst/>
            <a:cxnLst/>
            <a:rect r="r" b="b" t="t" l="l"/>
            <a:pathLst>
              <a:path h="4867241" w="5050576">
                <a:moveTo>
                  <a:pt x="5050576" y="0"/>
                </a:moveTo>
                <a:lnTo>
                  <a:pt x="0" y="0"/>
                </a:lnTo>
                <a:lnTo>
                  <a:pt x="0" y="4867242"/>
                </a:lnTo>
                <a:lnTo>
                  <a:pt x="5050576" y="4867242"/>
                </a:lnTo>
                <a:lnTo>
                  <a:pt x="50505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10800000">
            <a:off x="-535420" y="7387707"/>
            <a:ext cx="3920450" cy="3452409"/>
          </a:xfrm>
          <a:custGeom>
            <a:avLst/>
            <a:gdLst/>
            <a:ahLst/>
            <a:cxnLst/>
            <a:rect r="r" b="b" t="t" l="l"/>
            <a:pathLst>
              <a:path h="3452409" w="3920450">
                <a:moveTo>
                  <a:pt x="3920450" y="0"/>
                </a:moveTo>
                <a:lnTo>
                  <a:pt x="0" y="0"/>
                </a:lnTo>
                <a:lnTo>
                  <a:pt x="0" y="3452409"/>
                </a:lnTo>
                <a:lnTo>
                  <a:pt x="3920450" y="3452409"/>
                </a:lnTo>
                <a:lnTo>
                  <a:pt x="39204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10800000">
            <a:off x="-535420" y="-553116"/>
            <a:ext cx="4260122" cy="4105480"/>
          </a:xfrm>
          <a:custGeom>
            <a:avLst/>
            <a:gdLst/>
            <a:ahLst/>
            <a:cxnLst/>
            <a:rect r="r" b="b" t="t" l="l"/>
            <a:pathLst>
              <a:path h="4105480" w="4260122">
                <a:moveTo>
                  <a:pt x="4260121" y="0"/>
                </a:moveTo>
                <a:lnTo>
                  <a:pt x="0" y="0"/>
                </a:lnTo>
                <a:lnTo>
                  <a:pt x="0" y="4105481"/>
                </a:lnTo>
                <a:lnTo>
                  <a:pt x="4260121" y="4105481"/>
                </a:lnTo>
                <a:lnTo>
                  <a:pt x="426012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883119" y="3974783"/>
            <a:ext cx="10521763" cy="2156460"/>
          </a:xfrm>
          <a:prstGeom prst="rect">
            <a:avLst/>
          </a:prstGeom>
        </p:spPr>
        <p:txBody>
          <a:bodyPr anchor="t" rtlCol="false" tIns="0" lIns="0" bIns="0" rIns="0">
            <a:spAutoFit/>
          </a:bodyPr>
          <a:lstStyle/>
          <a:p>
            <a:pPr algn="ctr">
              <a:lnSpc>
                <a:spcPts val="14819"/>
              </a:lnSpc>
            </a:pPr>
            <a:r>
              <a:rPr lang="en-US" sz="12999">
                <a:solidFill>
                  <a:srgbClr val="896245"/>
                </a:solidFill>
                <a:latin typeface="Kaftus"/>
                <a:ea typeface="Kaftus"/>
                <a:cs typeface="Kaftus"/>
                <a:sym typeface="Kaftu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DAHRVpHLw-Y</dc:identifier>
  <dcterms:modified xsi:type="dcterms:W3CDTF">2011-08-01T06:04:30Z</dcterms:modified>
  <cp:revision>1</cp:revision>
  <dc:title>DSA-3 Abstract</dc:title>
</cp:coreProperties>
</file>