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9/18/2026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hyperlink" Target="https://www.ncbi.nlm.nih.gov/nuccore/28191474" TargetMode="External"/><Relationship Id="rId3" Type="http://schemas.openxmlformats.org/officeDocument/2006/relationships/hyperlink" Target="https://saspublishers.com/media/articles/SJAMS_36B_2244-2252.pdf" TargetMode="External"/><Relationship Id="rId7" Type="http://schemas.openxmlformats.org/officeDocument/2006/relationships/hyperlink" Target="https://www.researchgate.net/publication/360955679_Sickle_Cell_Disease_a_Review" TargetMode="External"/><Relationship Id="rId2" Type="http://schemas.openxmlformats.org/officeDocument/2006/relationships/hyperlink" Target="https://www.nhlbi.nih.gov/health/sickle-cell-disease" TargetMode="External"/><Relationship Id="rId1" Type="http://schemas.openxmlformats.org/officeDocument/2006/relationships/slideLayout" Target="../slideLayouts/slideLayout7.xml"/><Relationship Id="rId6" Type="http://schemas.openxmlformats.org/officeDocument/2006/relationships/hyperlink" Target="https://www.msjonline.org/index.php/ijrms/article/view/479" TargetMode="External"/><Relationship Id="rId5" Type="http://schemas.openxmlformats.org/officeDocument/2006/relationships/hyperlink" Target="https://www.ncbi.nlm.nih.gov/books/NBK482164/" TargetMode="External"/><Relationship Id="rId4" Type="http://schemas.openxmlformats.org/officeDocument/2006/relationships/hyperlink" Target="https://www.researchgate.net/publication/301327927_Sickle_Cell_Anaemia_A_Review"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9784" y="1765583"/>
            <a:ext cx="10039150" cy="1396014"/>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Newborn Genetic Disorder Screening via DNA Motif Scanning</a:t>
            </a:r>
          </a:p>
        </p:txBody>
      </p:sp>
      <p:sp>
        <p:nvSpPr>
          <p:cNvPr id="3" name="Subtitle 2"/>
          <p:cNvSpPr>
            <a:spLocks noGrp="1"/>
          </p:cNvSpPr>
          <p:nvPr>
            <p:ph type="subTitle" idx="1"/>
          </p:nvPr>
        </p:nvSpPr>
        <p:spPr>
          <a:xfrm>
            <a:off x="3474720" y="3080084"/>
            <a:ext cx="5419023" cy="1732546"/>
          </a:xfrm>
        </p:spPr>
        <p:txBody>
          <a:bodyPr/>
          <a:lstStyle/>
          <a:p>
            <a:r>
              <a:rPr lang="en-US" dirty="0">
                <a:solidFill>
                  <a:srgbClr val="0070C0"/>
                </a:solidFill>
              </a:rPr>
              <a:t>Team Members</a:t>
            </a:r>
          </a:p>
          <a:p>
            <a:r>
              <a:rPr lang="en-US" dirty="0">
                <a:solidFill>
                  <a:srgbClr val="0070C0"/>
                </a:solidFill>
              </a:rPr>
              <a:t>2520030039 : </a:t>
            </a:r>
            <a:r>
              <a:rPr lang="en-US" dirty="0" err="1">
                <a:solidFill>
                  <a:srgbClr val="0070C0"/>
                </a:solidFill>
              </a:rPr>
              <a:t>T.S.S.S.Ananya</a:t>
            </a:r>
            <a:endParaRPr lang="en-US" dirty="0">
              <a:solidFill>
                <a:srgbClr val="0070C0"/>
              </a:solidFill>
            </a:endParaRPr>
          </a:p>
          <a:p>
            <a:r>
              <a:rPr lang="en-US" dirty="0">
                <a:solidFill>
                  <a:srgbClr val="0070C0"/>
                </a:solidFill>
              </a:rPr>
              <a:t>2520030095 : </a:t>
            </a:r>
            <a:r>
              <a:rPr lang="en-US" dirty="0" err="1">
                <a:solidFill>
                  <a:srgbClr val="0070C0"/>
                </a:solidFill>
              </a:rPr>
              <a:t>Thipireddy</a:t>
            </a:r>
            <a:r>
              <a:rPr lang="en-US" dirty="0">
                <a:solidFill>
                  <a:srgbClr val="0070C0"/>
                </a:solidFill>
              </a:rPr>
              <a:t> Hansini</a:t>
            </a:r>
          </a:p>
          <a:p>
            <a:r>
              <a:rPr lang="en-US" dirty="0">
                <a:solidFill>
                  <a:srgbClr val="0070C0"/>
                </a:solidFill>
              </a:rPr>
              <a:t>2520030155: Fathima </a:t>
            </a:r>
            <a:r>
              <a:rPr lang="en-US" dirty="0" err="1">
                <a:solidFill>
                  <a:srgbClr val="0070C0"/>
                </a:solidFill>
              </a:rPr>
              <a:t>Qhibtiya</a:t>
            </a:r>
            <a:r>
              <a:rPr lang="en-US" dirty="0">
                <a:solidFill>
                  <a:srgbClr val="0070C0"/>
                </a:solidFill>
              </a:rPr>
              <a:t> Khader</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 Madhavi</a:t>
            </a:r>
          </a:p>
          <a:p>
            <a:pPr algn="ctr">
              <a:lnSpc>
                <a:spcPct val="107000"/>
              </a:lnSpc>
              <a:spcAft>
                <a:spcPts val="800"/>
              </a:spcAft>
            </a:pPr>
            <a:r>
              <a:rPr lang="en-US" sz="1800" b="1"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Assistant Professor</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524AADC2-02BB-4FCF-85B2-A301B90CEEEF}"/>
              </a:ext>
            </a:extLst>
          </p:cNvPr>
          <p:cNvSpPr txBox="1"/>
          <p:nvPr/>
        </p:nvSpPr>
        <p:spPr>
          <a:xfrm>
            <a:off x="962526" y="2028564"/>
            <a:ext cx="10087276" cy="3774110"/>
          </a:xfrm>
          <a:prstGeom prst="rect">
            <a:avLst/>
          </a:prstGeom>
          <a:noFill/>
        </p:spPr>
        <p:txBody>
          <a:bodyPr wrap="square" rtlCol="0">
            <a:spAutoFit/>
          </a:bodyPr>
          <a:lstStyle/>
          <a:p>
            <a:pPr algn="just">
              <a:lnSpc>
                <a:spcPts val="3200"/>
              </a:lnSpc>
            </a:pPr>
            <a:r>
              <a:rPr lang="en-US">
                <a:solidFill>
                  <a:srgbClr val="000000"/>
                </a:solidFill>
                <a:latin typeface="Glacial Indifference"/>
                <a:ea typeface="Glacial Indifference"/>
                <a:cs typeface="Glacial Indifference"/>
                <a:sym typeface="Glacial Indifference"/>
              </a:rPr>
              <a:t>Genetic screening for newborns and carriers is expanding rapidly worldwide to detect inherited disorders before symptoms appear, enabling early, life-saving medical intervention. In India, initiatives like the National Sickle Cell Anaemia Elimination Mission target major genetic burdens, including Sickle Cell Disease and Beta-thalassemia, which are caused by specific, well-documented mutations in the HBB gene. As these screening programs grow, they are transitioning from checking a single condition to checking dozens of disorders simultaneously. Because DNA is a string composed of a four-letter alphabet (A, C, G, T), identifying these genetic markers within a patient sample is fundamentally a multi-pattern string matching problem.</a:t>
            </a:r>
          </a:p>
          <a:p>
            <a:pPr algn="just">
              <a:lnSpc>
                <a:spcPts val="3583"/>
              </a:lnSpc>
            </a:pPr>
            <a:endParaRPr lang="en-US" dirty="0">
              <a:solidFill>
                <a:srgbClr val="000000"/>
              </a:solidFill>
              <a:latin typeface="Glacial Indifference"/>
              <a:ea typeface="Glacial Indifference"/>
              <a:cs typeface="Glacial Indifference"/>
              <a:sym typeface="Glacial Indifference"/>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E4BFEB2B-CDDD-88D1-3116-823766F78D53}"/>
              </a:ext>
            </a:extLst>
          </p:cNvPr>
          <p:cNvSpPr txBox="1"/>
          <p:nvPr/>
        </p:nvSpPr>
        <p:spPr>
          <a:xfrm>
            <a:off x="1191039" y="2077279"/>
            <a:ext cx="9809920" cy="3139321"/>
          </a:xfrm>
          <a:prstGeom prst="rect">
            <a:avLst/>
          </a:prstGeom>
          <a:noFill/>
        </p:spPr>
        <p:txBody>
          <a:bodyPr wrap="square" rtlCol="0">
            <a:spAutoFit/>
          </a:bodyPr>
          <a:lstStyle/>
          <a:p>
            <a:pPr lvl="0" algn="just" eaLnBrk="0" fontAlgn="base" hangingPunct="0">
              <a:spcBef>
                <a:spcPct val="0"/>
              </a:spcBef>
              <a:spcAft>
                <a:spcPct val="0"/>
              </a:spcAft>
            </a:pPr>
            <a:r>
              <a:rPr lang="en-US" altLang="en-US" dirty="0">
                <a:latin typeface="Arial" panose="020B0604020202020204" pitchFamily="34" charset="0"/>
              </a:rPr>
              <a:t>Newborn genetic disorder screening is an important process for identifying potential genetic abnormalities at an early stage. Since DNA sequences contain specific patterns associated with genetic conditions, screening can be modeled as a </a:t>
            </a:r>
            <a:r>
              <a:rPr lang="en-US" altLang="en-US" b="1" dirty="0">
                <a:latin typeface="Arial" panose="020B0604020202020204" pitchFamily="34" charset="0"/>
              </a:rPr>
              <a:t>multi-pattern string matching problem</a:t>
            </a:r>
            <a:r>
              <a:rPr lang="en-US" altLang="en-US" dirty="0">
                <a:latin typeface="Arial" panose="020B0604020202020204" pitchFamily="34" charset="0"/>
              </a:rPr>
              <a:t>.</a:t>
            </a:r>
          </a:p>
          <a:p>
            <a:pPr lvl="0" algn="just" eaLnBrk="0" fontAlgn="base" hangingPunct="0">
              <a:spcBef>
                <a:spcPct val="0"/>
              </a:spcBef>
              <a:spcAft>
                <a:spcPct val="0"/>
              </a:spcAft>
            </a:pPr>
            <a:r>
              <a:rPr lang="en-US" altLang="en-US" dirty="0">
                <a:latin typeface="Arial" panose="020B0604020202020204" pitchFamily="34" charset="0"/>
              </a:rPr>
              <a:t>This project, </a:t>
            </a:r>
            <a:r>
              <a:rPr lang="en-US" altLang="en-US" b="1" dirty="0">
                <a:latin typeface="Arial" panose="020B0604020202020204" pitchFamily="34" charset="0"/>
              </a:rPr>
              <a:t>“Newborn Genetic Disorder Screening via DNA Motif Scanning,”</a:t>
            </a:r>
            <a:r>
              <a:rPr lang="en-US" altLang="en-US" dirty="0">
                <a:latin typeface="Arial" panose="020B0604020202020204" pitchFamily="34" charset="0"/>
              </a:rPr>
              <a:t> uses the </a:t>
            </a:r>
            <a:r>
              <a:rPr lang="en-US" altLang="en-US" b="1" dirty="0">
                <a:latin typeface="Arial" panose="020B0604020202020204" pitchFamily="34" charset="0"/>
              </a:rPr>
              <a:t>Aho–</a:t>
            </a:r>
            <a:r>
              <a:rPr lang="en-US" altLang="en-US" b="1" dirty="0" err="1">
                <a:latin typeface="Arial" panose="020B0604020202020204" pitchFamily="34" charset="0"/>
              </a:rPr>
              <a:t>Corasick</a:t>
            </a:r>
            <a:r>
              <a:rPr lang="en-US" altLang="en-US" b="1" dirty="0">
                <a:latin typeface="Arial" panose="020B0604020202020204" pitchFamily="34" charset="0"/>
              </a:rPr>
              <a:t> algorithm</a:t>
            </a:r>
            <a:r>
              <a:rPr lang="en-US" altLang="en-US" dirty="0">
                <a:latin typeface="Arial" panose="020B0604020202020204" pitchFamily="34" charset="0"/>
              </a:rPr>
              <a:t> to efficiently search for multiple DNA markers within a DNA sequence in a single pass. The project also uses </a:t>
            </a:r>
            <a:r>
              <a:rPr lang="en-US" altLang="en-US" b="1" dirty="0">
                <a:latin typeface="Arial" panose="020B0604020202020204" pitchFamily="34" charset="0"/>
              </a:rPr>
              <a:t>KMP (Knuth–Morris–Pratt)</a:t>
            </a:r>
            <a:r>
              <a:rPr lang="en-US" altLang="en-US" dirty="0">
                <a:latin typeface="Arial" panose="020B0604020202020204" pitchFamily="34" charset="0"/>
              </a:rPr>
              <a:t> as a baseline for comparison.</a:t>
            </a:r>
          </a:p>
          <a:p>
            <a:pPr lvl="0" algn="just" eaLnBrk="0" fontAlgn="base" hangingPunct="0">
              <a:spcBef>
                <a:spcPct val="0"/>
              </a:spcBef>
              <a:spcAft>
                <a:spcPct val="0"/>
              </a:spcAft>
            </a:pPr>
            <a:r>
              <a:rPr lang="en-US" altLang="en-US" dirty="0">
                <a:latin typeface="Arial" panose="020B0604020202020204" pitchFamily="34" charset="0"/>
              </a:rPr>
              <a:t>Synthetic DNA data and marker patterns are used to simulate the screening process. The system stores the generated data, detects matching genetic motifs, compares the performance of both algorithms, and presents the results in a structured manner.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FA3C61B7-7A7E-070C-0206-B5EBE172C6AC}"/>
              </a:ext>
            </a:extLst>
          </p:cNvPr>
          <p:cNvSpPr txBox="1"/>
          <p:nvPr/>
        </p:nvSpPr>
        <p:spPr>
          <a:xfrm>
            <a:off x="577516" y="1395663"/>
            <a:ext cx="10145027" cy="3970318"/>
          </a:xfrm>
          <a:prstGeom prst="rect">
            <a:avLst/>
          </a:prstGeom>
          <a:noFill/>
        </p:spPr>
        <p:txBody>
          <a:bodyPr wrap="square" rtlCol="0">
            <a:spAutoFit/>
          </a:bodyPr>
          <a:lstStyle/>
          <a:p>
            <a:r>
              <a:rPr lang="en-IN" dirty="0">
                <a:hlinkClick r:id="rId2"/>
              </a:rPr>
              <a:t>https://www.nhlbi.nih.gov/health/sickle-cell-disease</a:t>
            </a:r>
            <a:endParaRPr lang="en-IN" dirty="0"/>
          </a:p>
          <a:p>
            <a:endParaRPr lang="en-IN" dirty="0"/>
          </a:p>
          <a:p>
            <a:r>
              <a:rPr lang="en-IN" dirty="0">
                <a:hlinkClick r:id="rId3"/>
              </a:rPr>
              <a:t>https://saspublishers.com/media/articles/SJAMS_36B_2244-2252.pdf</a:t>
            </a:r>
            <a:endParaRPr lang="en-IN" dirty="0"/>
          </a:p>
          <a:p>
            <a:endParaRPr lang="en-IN" dirty="0"/>
          </a:p>
          <a:p>
            <a:r>
              <a:rPr lang="en-IN" dirty="0">
                <a:hlinkClick r:id="rId4"/>
              </a:rPr>
              <a:t>https://www.researchgate.net/publication/301327927_Sickle_Cell_Anaemia_A_Review</a:t>
            </a:r>
            <a:endParaRPr lang="en-IN" dirty="0"/>
          </a:p>
          <a:p>
            <a:endParaRPr lang="en-IN" dirty="0"/>
          </a:p>
          <a:p>
            <a:r>
              <a:rPr lang="en-IN" dirty="0">
                <a:hlinkClick r:id="rId5"/>
              </a:rPr>
              <a:t>https://www.ncbi.nlm.nih.gov/books/NBK482164/</a:t>
            </a:r>
            <a:endParaRPr lang="en-IN" dirty="0"/>
          </a:p>
          <a:p>
            <a:endParaRPr lang="en-IN" dirty="0"/>
          </a:p>
          <a:p>
            <a:r>
              <a:rPr lang="en-IN" dirty="0">
                <a:hlinkClick r:id="rId6"/>
              </a:rPr>
              <a:t>https://www.msjonline.org/index.php/ijrms/article/view/479</a:t>
            </a:r>
            <a:endParaRPr lang="en-IN" dirty="0"/>
          </a:p>
          <a:p>
            <a:endParaRPr lang="en-IN" dirty="0"/>
          </a:p>
          <a:p>
            <a:r>
              <a:rPr lang="en-IN" dirty="0">
                <a:hlinkClick r:id="rId7"/>
              </a:rPr>
              <a:t>https://www.researchgate.net/publication/360955679_Sickle_Cell_Disease_a_Review</a:t>
            </a:r>
            <a:endParaRPr lang="en-IN" dirty="0"/>
          </a:p>
          <a:p>
            <a:endParaRPr lang="en-IN" dirty="0"/>
          </a:p>
          <a:p>
            <a:r>
              <a:rPr lang="en-IN" dirty="0">
                <a:hlinkClick r:id="rId8"/>
              </a:rPr>
              <a:t>https://www.ncbi.nlm.nih.gov/nuccore/28191474</a:t>
            </a:r>
            <a:endParaRPr lang="en-IN"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1218B23A-20C0-BE43-46C1-D907F59718B3}"/>
              </a:ext>
            </a:extLst>
          </p:cNvPr>
          <p:cNvSpPr txBox="1"/>
          <p:nvPr/>
        </p:nvSpPr>
        <p:spPr>
          <a:xfrm>
            <a:off x="1341411" y="1617044"/>
            <a:ext cx="9336213" cy="4771178"/>
          </a:xfrm>
          <a:prstGeom prst="rect">
            <a:avLst/>
          </a:prstGeom>
          <a:noFill/>
        </p:spPr>
        <p:txBody>
          <a:bodyPr wrap="square" rtlCol="0">
            <a:spAutoFit/>
          </a:bodyPr>
          <a:lstStyle/>
          <a:p>
            <a:pPr algn="just">
              <a:lnSpc>
                <a:spcPts val="3712"/>
              </a:lnSpc>
            </a:pPr>
            <a:r>
              <a:rPr lang="en-US" dirty="0">
                <a:solidFill>
                  <a:srgbClr val="000000"/>
                </a:solidFill>
                <a:latin typeface="Glacial Indifference"/>
                <a:ea typeface="Glacial Indifference"/>
                <a:cs typeface="Glacial Indifference"/>
                <a:sym typeface="Glacial Indifference"/>
              </a:rPr>
              <a:t>The traditional, naive approach to multi-pattern matching is to search the DNA sample sequentially for each genetic marker, one at a time. Using standard single-pattern algorithms like Knuth-Morris-Pratt (KMP) means the entire DNA sample must be re-read from scratch for every condition added to the testing panel. </a:t>
            </a:r>
          </a:p>
          <a:p>
            <a:pPr algn="just">
              <a:lnSpc>
                <a:spcPts val="3712"/>
              </a:lnSpc>
            </a:pPr>
            <a:r>
              <a:rPr lang="en-US" dirty="0">
                <a:solidFill>
                  <a:srgbClr val="000000"/>
                </a:solidFill>
                <a:latin typeface="Glacial Indifference"/>
                <a:ea typeface="Glacial Indifference"/>
                <a:cs typeface="Glacial Indifference"/>
                <a:sym typeface="Glacial Indifference"/>
              </a:rPr>
              <a:t>Consequently, the computational cost and processing time grow linearly with the number of disorders checked. This poor scaling behavior makes sequential searching highly inefficient and unsustainable for modern healthcare programs that continuously expand their screening panels.</a:t>
            </a:r>
          </a:p>
          <a:p>
            <a:pPr algn="just">
              <a:lnSpc>
                <a:spcPts val="3712"/>
              </a:lnSpc>
            </a:pPr>
            <a:endParaRPr lang="en-US" dirty="0">
              <a:solidFill>
                <a:srgbClr val="000000"/>
              </a:solidFill>
              <a:latin typeface="Glacial Indifference"/>
              <a:ea typeface="Glacial Indifference"/>
              <a:cs typeface="Glacial Indifference"/>
              <a:sym typeface="Glacial Indifference"/>
            </a:endParaRPr>
          </a:p>
          <a:p>
            <a:pPr algn="just">
              <a:lnSpc>
                <a:spcPts val="3712"/>
              </a:lnSpc>
            </a:pPr>
            <a:endParaRPr lang="en-US" dirty="0">
              <a:solidFill>
                <a:srgbClr val="000000"/>
              </a:solidFill>
              <a:latin typeface="Glacial Indifference"/>
              <a:ea typeface="Glacial Indifference"/>
              <a:cs typeface="Glacial Indifference"/>
              <a:sym typeface="Glacial Indifference"/>
            </a:endParaRP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1F1AE9AA-1163-9018-0E0F-87D8B6E17840}"/>
              </a:ext>
            </a:extLst>
          </p:cNvPr>
          <p:cNvPicPr>
            <a:picLocks noChangeAspect="1"/>
          </p:cNvPicPr>
          <p:nvPr/>
        </p:nvPicPr>
        <p:blipFill>
          <a:blip r:embed="rId2"/>
          <a:srcRect l="3984" t="8485" r="8704"/>
          <a:stretch>
            <a:fillRect/>
          </a:stretch>
        </p:blipFill>
        <p:spPr>
          <a:xfrm>
            <a:off x="1910206" y="1443789"/>
            <a:ext cx="8371587" cy="47688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pic>
        <p:nvPicPr>
          <p:cNvPr id="5" name="Picture 4">
            <a:extLst>
              <a:ext uri="{FF2B5EF4-FFF2-40B4-BE49-F238E27FC236}">
                <a16:creationId xmlns:a16="http://schemas.microsoft.com/office/drawing/2014/main" id="{FE89AA72-3281-0263-21F2-34CB96414112}"/>
              </a:ext>
            </a:extLst>
          </p:cNvPr>
          <p:cNvPicPr>
            <a:picLocks noChangeAspect="1"/>
          </p:cNvPicPr>
          <p:nvPr/>
        </p:nvPicPr>
        <p:blipFill>
          <a:blip r:embed="rId2"/>
          <a:stretch>
            <a:fillRect/>
          </a:stretch>
        </p:blipFill>
        <p:spPr>
          <a:xfrm>
            <a:off x="1540041" y="1026311"/>
            <a:ext cx="8941869" cy="5426263"/>
          </a:xfrm>
          <a:prstGeom prst="rect">
            <a:avLst/>
          </a:prstGeom>
        </p:spPr>
      </p:pic>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pic>
        <p:nvPicPr>
          <p:cNvPr id="11" name="Picture 10">
            <a:extLst>
              <a:ext uri="{FF2B5EF4-FFF2-40B4-BE49-F238E27FC236}">
                <a16:creationId xmlns:a16="http://schemas.microsoft.com/office/drawing/2014/main" id="{8FC09192-3EAC-8187-626B-256C4A1DA092}"/>
              </a:ext>
            </a:extLst>
          </p:cNvPr>
          <p:cNvPicPr>
            <a:picLocks noChangeAspect="1"/>
          </p:cNvPicPr>
          <p:nvPr/>
        </p:nvPicPr>
        <p:blipFill>
          <a:blip r:embed="rId2"/>
          <a:stretch>
            <a:fillRect/>
          </a:stretch>
        </p:blipFill>
        <p:spPr>
          <a:xfrm>
            <a:off x="2608447" y="2266940"/>
            <a:ext cx="8475376" cy="3914817"/>
          </a:xfrm>
          <a:prstGeom prst="rect">
            <a:avLst/>
          </a:prstGeom>
        </p:spPr>
      </p:pic>
      <p:sp>
        <p:nvSpPr>
          <p:cNvPr id="12" name="TextBox 11">
            <a:extLst>
              <a:ext uri="{FF2B5EF4-FFF2-40B4-BE49-F238E27FC236}">
                <a16:creationId xmlns:a16="http://schemas.microsoft.com/office/drawing/2014/main" id="{B7C340B5-6202-9E9A-80EB-9A113B7C4D0C}"/>
              </a:ext>
            </a:extLst>
          </p:cNvPr>
          <p:cNvSpPr txBox="1"/>
          <p:nvPr/>
        </p:nvSpPr>
        <p:spPr>
          <a:xfrm>
            <a:off x="4754880" y="1402982"/>
            <a:ext cx="4668253" cy="584775"/>
          </a:xfrm>
          <a:prstGeom prst="rect">
            <a:avLst/>
          </a:prstGeom>
          <a:noFill/>
        </p:spPr>
        <p:txBody>
          <a:bodyPr wrap="square" rtlCol="0">
            <a:spAutoFit/>
          </a:bodyPr>
          <a:lstStyle/>
          <a:p>
            <a:r>
              <a:rPr lang="en-US" sz="3200" b="1" dirty="0"/>
              <a:t>Software Requirements</a:t>
            </a:r>
            <a:endParaRPr lang="en-IN" sz="3200" b="1" dirty="0"/>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7" name="TextBox 6">
            <a:extLst>
              <a:ext uri="{FF2B5EF4-FFF2-40B4-BE49-F238E27FC236}">
                <a16:creationId xmlns:a16="http://schemas.microsoft.com/office/drawing/2014/main" id="{A866FD42-B557-B2FC-9147-ED90D2BEA35B}"/>
              </a:ext>
            </a:extLst>
          </p:cNvPr>
          <p:cNvSpPr txBox="1"/>
          <p:nvPr/>
        </p:nvSpPr>
        <p:spPr>
          <a:xfrm rot="10800000" flipH="1" flipV="1">
            <a:off x="2030645" y="2966059"/>
            <a:ext cx="5832204" cy="3192761"/>
          </a:xfrm>
          <a:prstGeom prst="rect">
            <a:avLst/>
          </a:prstGeom>
          <a:noFill/>
        </p:spPr>
        <p:txBody>
          <a:bodyPr wrap="square" rtlCol="0">
            <a:spAutoFit/>
          </a:bodyPr>
          <a:lstStyle/>
          <a:p>
            <a:endParaRPr lang="en-IN" dirty="0"/>
          </a:p>
        </p:txBody>
      </p:sp>
      <p:sp>
        <p:nvSpPr>
          <p:cNvPr id="11" name="Rectangle 6">
            <a:extLst>
              <a:ext uri="{FF2B5EF4-FFF2-40B4-BE49-F238E27FC236}">
                <a16:creationId xmlns:a16="http://schemas.microsoft.com/office/drawing/2014/main" id="{864609D4-4A18-7F35-84C1-41B8FA607A63}"/>
              </a:ext>
            </a:extLst>
          </p:cNvPr>
          <p:cNvSpPr>
            <a:spLocks noChangeArrowheads="1"/>
          </p:cNvSpPr>
          <p:nvPr/>
        </p:nvSpPr>
        <p:spPr bwMode="auto">
          <a:xfrm>
            <a:off x="1018307" y="2003860"/>
            <a:ext cx="1015538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The </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Newborn Genetic Disorder Screening via DNA Motif Scanning</a:t>
            </a:r>
            <a:r>
              <a:rPr kumimoji="0" lang="en-US" altLang="en-US" b="0" i="0" u="none" strike="noStrike" cap="none" normalizeH="0" baseline="0" dirty="0">
                <a:ln>
                  <a:noFill/>
                </a:ln>
                <a:solidFill>
                  <a:schemeClr val="tx1"/>
                </a:solidFill>
                <a:effectLst/>
                <a:latin typeface="Arial" panose="020B0604020202020204" pitchFamily="34" charset="0"/>
              </a:rPr>
              <a:t> project demonstrates how string-matching algorithms can be applied to genetic screening. The </a:t>
            </a:r>
            <a:r>
              <a:rPr kumimoji="0" lang="en-US" altLang="en-US" b="1" i="0" u="none" strike="noStrike" cap="none" normalizeH="0" baseline="0" dirty="0">
                <a:ln>
                  <a:noFill/>
                </a:ln>
                <a:solidFill>
                  <a:schemeClr val="tx1"/>
                </a:solidFill>
                <a:effectLst/>
                <a:latin typeface="Arial" panose="020B0604020202020204" pitchFamily="34" charset="0"/>
              </a:rPr>
              <a:t>Aho–</a:t>
            </a:r>
            <a:r>
              <a:rPr kumimoji="0" lang="en-US" altLang="en-US" b="1" i="0" u="none" strike="noStrike" cap="none" normalizeH="0" baseline="0" dirty="0" err="1">
                <a:ln>
                  <a:noFill/>
                </a:ln>
                <a:solidFill>
                  <a:schemeClr val="tx1"/>
                </a:solidFill>
                <a:effectLst/>
                <a:latin typeface="Arial" panose="020B0604020202020204" pitchFamily="34" charset="0"/>
              </a:rPr>
              <a:t>Corasick</a:t>
            </a:r>
            <a:r>
              <a:rPr kumimoji="0" lang="en-US" altLang="en-US" b="1" i="0" u="none" strike="noStrike" cap="none" normalizeH="0" baseline="0" dirty="0">
                <a:ln>
                  <a:noFill/>
                </a:ln>
                <a:solidFill>
                  <a:schemeClr val="tx1"/>
                </a:solidFill>
                <a:effectLst/>
                <a:latin typeface="Arial" panose="020B0604020202020204" pitchFamily="34" charset="0"/>
              </a:rPr>
              <a:t> algorithm</a:t>
            </a:r>
            <a:r>
              <a:rPr kumimoji="0" lang="en-US" altLang="en-US" b="0" i="0" u="none" strike="noStrike" cap="none" normalizeH="0" baseline="0" dirty="0">
                <a:ln>
                  <a:noFill/>
                </a:ln>
                <a:solidFill>
                  <a:schemeClr val="tx1"/>
                </a:solidFill>
                <a:effectLst/>
                <a:latin typeface="Arial" panose="020B0604020202020204" pitchFamily="34" charset="0"/>
              </a:rPr>
              <a:t> enables efficient detection of multiple DNA markers in a single scan, while </a:t>
            </a:r>
            <a:r>
              <a:rPr kumimoji="0" lang="en-US" altLang="en-US" b="1" i="0" u="none" strike="noStrike" cap="none" normalizeH="0" baseline="0" dirty="0">
                <a:ln>
                  <a:noFill/>
                </a:ln>
                <a:solidFill>
                  <a:schemeClr val="tx1"/>
                </a:solidFill>
                <a:effectLst/>
                <a:latin typeface="Arial" panose="020B0604020202020204" pitchFamily="34" charset="0"/>
              </a:rPr>
              <a:t>KMP</a:t>
            </a:r>
            <a:r>
              <a:rPr kumimoji="0" lang="en-US" altLang="en-US" b="0" i="0" u="none" strike="noStrike" cap="none" normalizeH="0" baseline="0" dirty="0">
                <a:ln>
                  <a:noFill/>
                </a:ln>
                <a:solidFill>
                  <a:schemeClr val="tx1"/>
                </a:solidFill>
                <a:effectLst/>
                <a:latin typeface="Arial" panose="020B0604020202020204" pitchFamily="34" charset="0"/>
              </a:rPr>
              <a:t> provides a useful baseline for performance comparison.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Using synthetic DNA data, the system identifies matching genetic motifs, stores screening results, and compares the performance of both approaches. The project provides a foundation for developing a scalable and efficient DNA screening system that can be extended with larger marker panels, additional genetic sequences, and more advanced matching techniques.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15197085-12C2-05F3-75E5-0136AB30E4C6}"/>
              </a:ext>
            </a:extLst>
          </p:cNvPr>
          <p:cNvSpPr txBox="1"/>
          <p:nvPr/>
        </p:nvSpPr>
        <p:spPr>
          <a:xfrm>
            <a:off x="-144379" y="1588169"/>
            <a:ext cx="12002703" cy="5387244"/>
          </a:xfrm>
          <a:prstGeom prst="rect">
            <a:avLst/>
          </a:prstGeom>
          <a:noFill/>
        </p:spPr>
        <p:txBody>
          <a:bodyPr wrap="square" rtlCol="0">
            <a:spAutoFit/>
          </a:bodyPr>
          <a:lstStyle/>
          <a:p>
            <a:pPr marL="582927" lvl="1" indent="-291463" algn="just">
              <a:lnSpc>
                <a:spcPts val="3779"/>
              </a:lnSpc>
              <a:buFont typeface="Arial"/>
              <a:buChar char="•"/>
            </a:pPr>
            <a:r>
              <a:rPr lang="en-US" sz="1600" b="1" dirty="0">
                <a:solidFill>
                  <a:srgbClr val="000000"/>
                </a:solidFill>
                <a:latin typeface="Inter Bold"/>
                <a:ea typeface="Inter Bold"/>
                <a:cs typeface="Inter Bold"/>
                <a:sym typeface="Inter Bold"/>
              </a:rPr>
              <a:t>Approximate/fuzzy matching:</a:t>
            </a:r>
            <a:r>
              <a:rPr lang="en-US" sz="1600" dirty="0">
                <a:solidFill>
                  <a:srgbClr val="000000"/>
                </a:solidFill>
                <a:latin typeface="Inter"/>
                <a:ea typeface="Inter"/>
                <a:cs typeface="Inter"/>
                <a:sym typeface="Inter"/>
              </a:rPr>
              <a:t> extend Aho-</a:t>
            </a:r>
            <a:r>
              <a:rPr lang="en-US" sz="1600" dirty="0" err="1">
                <a:solidFill>
                  <a:srgbClr val="000000"/>
                </a:solidFill>
                <a:latin typeface="Inter"/>
                <a:ea typeface="Inter"/>
                <a:cs typeface="Inter"/>
                <a:sym typeface="Inter"/>
              </a:rPr>
              <a:t>Corasick</a:t>
            </a:r>
            <a:r>
              <a:rPr lang="en-US" sz="1600" dirty="0">
                <a:solidFill>
                  <a:srgbClr val="000000"/>
                </a:solidFill>
                <a:latin typeface="Inter"/>
                <a:ea typeface="Inter"/>
                <a:cs typeface="Inter"/>
                <a:sym typeface="Inter"/>
              </a:rPr>
              <a:t> to tolerate SNPs or sequencing errors (e.g., via Aho-</a:t>
            </a:r>
            <a:r>
              <a:rPr lang="en-US" sz="1600" dirty="0" err="1">
                <a:solidFill>
                  <a:srgbClr val="000000"/>
                </a:solidFill>
                <a:latin typeface="Inter"/>
                <a:ea typeface="Inter"/>
                <a:cs typeface="Inter"/>
                <a:sym typeface="Inter"/>
              </a:rPr>
              <a:t>Corasick</a:t>
            </a:r>
            <a:r>
              <a:rPr lang="en-US" sz="1600" dirty="0">
                <a:solidFill>
                  <a:srgbClr val="000000"/>
                </a:solidFill>
                <a:latin typeface="Inter"/>
                <a:ea typeface="Inter"/>
                <a:cs typeface="Inter"/>
                <a:sym typeface="Inter"/>
              </a:rPr>
              <a:t> + edit-distance hybrid, or </a:t>
            </a:r>
            <a:r>
              <a:rPr lang="en-US" sz="1600" dirty="0" err="1">
                <a:solidFill>
                  <a:srgbClr val="000000"/>
                </a:solidFill>
                <a:latin typeface="Inter"/>
                <a:ea typeface="Inter"/>
                <a:cs typeface="Inter"/>
                <a:sym typeface="Inter"/>
              </a:rPr>
              <a:t>Bitap</a:t>
            </a:r>
            <a:r>
              <a:rPr lang="en-US" sz="1600" dirty="0">
                <a:solidFill>
                  <a:srgbClr val="000000"/>
                </a:solidFill>
                <a:latin typeface="Inter"/>
                <a:ea typeface="Inter"/>
                <a:cs typeface="Inter"/>
                <a:sym typeface="Inter"/>
              </a:rPr>
              <a:t>-style approximate matching) since real sequencing reads aren't always perfect</a:t>
            </a:r>
          </a:p>
          <a:p>
            <a:pPr marL="582927" lvl="1" indent="-291463" algn="just">
              <a:lnSpc>
                <a:spcPts val="3779"/>
              </a:lnSpc>
              <a:buFont typeface="Arial"/>
              <a:buChar char="•"/>
            </a:pPr>
            <a:r>
              <a:rPr lang="en-US" sz="1600" b="1" dirty="0">
                <a:solidFill>
                  <a:srgbClr val="000000"/>
                </a:solidFill>
                <a:latin typeface="Inter Bold"/>
                <a:ea typeface="Inter Bold"/>
                <a:cs typeface="Inter Bold"/>
                <a:sym typeface="Inter Bold"/>
              </a:rPr>
              <a:t>Expand beyond HBB:</a:t>
            </a:r>
            <a:r>
              <a:rPr lang="en-US" sz="1600" dirty="0">
                <a:solidFill>
                  <a:srgbClr val="000000"/>
                </a:solidFill>
                <a:latin typeface="Inter"/>
                <a:ea typeface="Inter"/>
                <a:cs typeface="Inter"/>
                <a:sym typeface="Inter"/>
              </a:rPr>
              <a:t> generalize the panel to other well-characterized single-gene disorders (e.g., CFTR for Cystic Fibrosis, G6PD deficiency) to move toward a true multi-disorder newborn panel</a:t>
            </a:r>
          </a:p>
          <a:p>
            <a:pPr marL="582927" lvl="1" indent="-291463" algn="just">
              <a:lnSpc>
                <a:spcPts val="3779"/>
              </a:lnSpc>
              <a:buFont typeface="Arial"/>
              <a:buChar char="•"/>
            </a:pPr>
            <a:r>
              <a:rPr lang="en-US" sz="1600" b="1" dirty="0">
                <a:solidFill>
                  <a:srgbClr val="000000"/>
                </a:solidFill>
                <a:latin typeface="Inter Bold"/>
                <a:ea typeface="Inter Bold"/>
                <a:cs typeface="Inter Bold"/>
                <a:sym typeface="Inter Bold"/>
              </a:rPr>
              <a:t>Parallelization: </a:t>
            </a:r>
            <a:r>
              <a:rPr lang="en-US" sz="1600" dirty="0">
                <a:solidFill>
                  <a:srgbClr val="000000"/>
                </a:solidFill>
                <a:latin typeface="Inter"/>
                <a:ea typeface="Inter"/>
                <a:cs typeface="Inter"/>
                <a:sym typeface="Inter"/>
              </a:rPr>
              <a:t>multi-threaded scanning for whole-genome-scale inputs rather than single-gene reference sequences</a:t>
            </a:r>
          </a:p>
          <a:p>
            <a:pPr marL="582927" lvl="1" indent="-291463" algn="just">
              <a:lnSpc>
                <a:spcPts val="3779"/>
              </a:lnSpc>
              <a:buFont typeface="Arial"/>
              <a:buChar char="•"/>
            </a:pPr>
            <a:r>
              <a:rPr lang="en-US" sz="1600" b="1" dirty="0">
                <a:solidFill>
                  <a:srgbClr val="000000"/>
                </a:solidFill>
                <a:latin typeface="Inter Bold"/>
                <a:ea typeface="Inter Bold"/>
                <a:cs typeface="Inter Bold"/>
                <a:sym typeface="Inter Bold"/>
              </a:rPr>
              <a:t>Integration with real screening pipelines:</a:t>
            </a:r>
            <a:r>
              <a:rPr lang="en-US" sz="1600" dirty="0">
                <a:solidFill>
                  <a:srgbClr val="000000"/>
                </a:solidFill>
                <a:latin typeface="Inter"/>
                <a:ea typeface="Inter"/>
                <a:cs typeface="Inter"/>
                <a:sym typeface="Inter"/>
              </a:rPr>
              <a:t> FASTQ/BAM file format support instead of raw string input, aligning with actual lab workflows</a:t>
            </a:r>
          </a:p>
          <a:p>
            <a:pPr marL="582927" lvl="1" indent="-291463" algn="just">
              <a:lnSpc>
                <a:spcPts val="3779"/>
              </a:lnSpc>
              <a:buFont typeface="Arial"/>
              <a:buChar char="•"/>
            </a:pPr>
            <a:r>
              <a:rPr lang="en-US" sz="1600" b="1" dirty="0">
                <a:solidFill>
                  <a:srgbClr val="000000"/>
                </a:solidFill>
                <a:latin typeface="Inter Bold"/>
                <a:ea typeface="Inter Bold"/>
                <a:cs typeface="Inter Bold"/>
                <a:sym typeface="Inter Bold"/>
              </a:rPr>
              <a:t>Cloud/edge deployment: </a:t>
            </a:r>
            <a:r>
              <a:rPr lang="en-US" sz="1600" dirty="0">
                <a:solidFill>
                  <a:srgbClr val="000000"/>
                </a:solidFill>
                <a:latin typeface="Inter"/>
                <a:ea typeface="Inter"/>
                <a:cs typeface="Inter"/>
                <a:sym typeface="Inter"/>
              </a:rPr>
              <a:t>package as a microservice so district-level health centers can query a centralized panel without needing local compute power</a:t>
            </a:r>
          </a:p>
          <a:p>
            <a:pPr marL="582927" lvl="1" indent="-291463" algn="just">
              <a:lnSpc>
                <a:spcPts val="3779"/>
              </a:lnSpc>
              <a:buFont typeface="Arial"/>
              <a:buChar char="•"/>
            </a:pPr>
            <a:r>
              <a:rPr lang="en-US" sz="1600" b="1" dirty="0">
                <a:solidFill>
                  <a:srgbClr val="000000"/>
                </a:solidFill>
                <a:latin typeface="Inter Bold"/>
                <a:ea typeface="Inter Bold"/>
                <a:cs typeface="Inter Bold"/>
                <a:sym typeface="Inter Bold"/>
              </a:rPr>
              <a:t>Regulatory alignment: d</a:t>
            </a:r>
            <a:r>
              <a:rPr lang="en-US" sz="1600" dirty="0">
                <a:solidFill>
                  <a:srgbClr val="000000"/>
                </a:solidFill>
                <a:latin typeface="Inter"/>
                <a:ea typeface="Inter"/>
                <a:cs typeface="Inter"/>
                <a:sym typeface="Inter"/>
              </a:rPr>
              <a:t>esign report format to align with ICMR/NSCAEM reporting standards for future real-world pilot use.</a:t>
            </a:r>
          </a:p>
          <a:p>
            <a:pPr algn="just">
              <a:lnSpc>
                <a:spcPts val="3941"/>
              </a:lnSpc>
            </a:pPr>
            <a:endParaRPr lang="en-US" sz="1600" dirty="0">
              <a:solidFill>
                <a:srgbClr val="000000"/>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TotalTime>
  <Words>816</Words>
  <Application>Microsoft Office PowerPoint</Application>
  <PresentationFormat>Widescreen</PresentationFormat>
  <Paragraphs>56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Glacial Indifference</vt:lpstr>
      <vt:lpstr>Inter</vt:lpstr>
      <vt:lpstr>Inter Bold</vt:lpstr>
      <vt:lpstr>Times New Roman</vt:lpstr>
      <vt:lpstr>Office Theme</vt:lpstr>
      <vt:lpstr>       Data Structures and Algorithms -3 (25CS2103E)  Newborn Genetic Disorder Screening via DNA Motif Scanning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Chandra Shekar Reddy Thippireddy</cp:lastModifiedBy>
  <cp:revision>21</cp:revision>
  <dcterms:created xsi:type="dcterms:W3CDTF">2024-08-29T05:25:00Z</dcterms:created>
  <dcterms:modified xsi:type="dcterms:W3CDTF">2026-09-19T09:10:14Z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